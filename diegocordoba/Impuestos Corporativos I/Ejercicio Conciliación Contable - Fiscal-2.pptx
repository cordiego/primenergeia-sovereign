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tags/tag28.xml" ContentType="application/vnd.openxmlformats-officedocument.presentationml.tags+xml"/>
  <Override PartName="/ppt/notesSlides/notesSlide29.xml" ContentType="application/vnd.openxmlformats-officedocument.presentationml.notesSlide+xml"/>
  <Override PartName="/ppt/tags/tag29.xml" ContentType="application/vnd.openxmlformats-officedocument.presentationml.tags+xml"/>
  <Override PartName="/ppt/notesSlides/notesSlide30.xml" ContentType="application/vnd.openxmlformats-officedocument.presentationml.notesSlide+xml"/>
  <Override PartName="/ppt/tags/tag30.xml" ContentType="application/vnd.openxmlformats-officedocument.presentationml.tags+xml"/>
  <Override PartName="/ppt/notesSlides/notesSlide31.xml" ContentType="application/vnd.openxmlformats-officedocument.presentationml.notesSlide+xml"/>
  <Override PartName="/ppt/tags/tag31.xml" ContentType="application/vnd.openxmlformats-officedocument.presentationml.tags+xml"/>
  <Override PartName="/ppt/notesSlides/notesSlide32.xml" ContentType="application/vnd.openxmlformats-officedocument.presentationml.notesSlide+xml"/>
  <Override PartName="/ppt/tags/tag32.xml" ContentType="application/vnd.openxmlformats-officedocument.presentationml.tags+xml"/>
  <Override PartName="/ppt/notesSlides/notesSlide33.xml" ContentType="application/vnd.openxmlformats-officedocument.presentationml.notesSlide+xml"/>
  <Override PartName="/ppt/tags/tag33.xml" ContentType="application/vnd.openxmlformats-officedocument.presentationml.tags+xml"/>
  <Override PartName="/ppt/notesSlides/notesSlide34.xml" ContentType="application/vnd.openxmlformats-officedocument.presentationml.notesSlide+xml"/>
  <Override PartName="/ppt/tags/tag34.xml" ContentType="application/vnd.openxmlformats-officedocument.presentationml.tags+xml"/>
  <Override PartName="/ppt/notesSlides/notesSlide35.xml" ContentType="application/vnd.openxmlformats-officedocument.presentationml.notesSlide+xml"/>
  <Override PartName="/ppt/tags/tag35.xml" ContentType="application/vnd.openxmlformats-officedocument.presentationml.tags+xml"/>
  <Override PartName="/ppt/notesSlides/notesSlide36.xml" ContentType="application/vnd.openxmlformats-officedocument.presentationml.notesSlide+xml"/>
  <Override PartName="/ppt/tags/tag36.xml" ContentType="application/vnd.openxmlformats-officedocument.presentationml.tags+xml"/>
  <Override PartName="/ppt/notesSlides/notesSlide37.xml" ContentType="application/vnd.openxmlformats-officedocument.presentationml.notesSlide+xml"/>
  <Override PartName="/ppt/tags/tag37.xml" ContentType="application/vnd.openxmlformats-officedocument.presentationml.tags+xml"/>
  <Override PartName="/ppt/notesSlides/notesSlide38.xml" ContentType="application/vnd.openxmlformats-officedocument.presentationml.notesSlide+xml"/>
  <Override PartName="/ppt/tags/tag38.xml" ContentType="application/vnd.openxmlformats-officedocument.presentationml.tags+xml"/>
  <Override PartName="/ppt/notesSlides/notesSlide39.xml" ContentType="application/vnd.openxmlformats-officedocument.presentationml.notesSlide+xml"/>
  <Override PartName="/ppt/tags/tag39.xml" ContentType="application/vnd.openxmlformats-officedocument.presentationml.tags+xml"/>
  <Override PartName="/ppt/notesSlides/notesSlide40.xml" ContentType="application/vnd.openxmlformats-officedocument.presentationml.notesSlide+xml"/>
  <Override PartName="/ppt/tags/tag40.xml" ContentType="application/vnd.openxmlformats-officedocument.presentationml.tags+xml"/>
  <Override PartName="/ppt/notesSlides/notesSlide41.xml" ContentType="application/vnd.openxmlformats-officedocument.presentationml.notesSlide+xml"/>
  <Override PartName="/ppt/tags/tag41.xml" ContentType="application/vnd.openxmlformats-officedocument.presentationml.tags+xml"/>
  <Override PartName="/ppt/notesSlides/notesSlide42.xml" ContentType="application/vnd.openxmlformats-officedocument.presentationml.notesSlide+xml"/>
  <Override PartName="/ppt/tags/tag42.xml" ContentType="application/vnd.openxmlformats-officedocument.presentationml.tags+xml"/>
  <Override PartName="/ppt/notesSlides/notesSlide43.xml" ContentType="application/vnd.openxmlformats-officedocument.presentationml.notesSlide+xml"/>
  <Override PartName="/ppt/tags/tag43.xml" ContentType="application/vnd.openxmlformats-officedocument.presentationml.tags+xml"/>
  <Override PartName="/ppt/notesSlides/notesSlide44.xml" ContentType="application/vnd.openxmlformats-officedocument.presentationml.notesSlide+xml"/>
  <Override PartName="/ppt/tags/tag44.xml" ContentType="application/vnd.openxmlformats-officedocument.presentationml.tags+xml"/>
  <Override PartName="/ppt/notesSlides/notesSlide45.xml" ContentType="application/vnd.openxmlformats-officedocument.presentationml.notesSlide+xml"/>
  <Override PartName="/ppt/tags/tag45.xml" ContentType="application/vnd.openxmlformats-officedocument.presentationml.tags+xml"/>
  <Override PartName="/ppt/notesSlides/notesSlide46.xml" ContentType="application/vnd.openxmlformats-officedocument.presentationml.notesSlide+xml"/>
  <Override PartName="/ppt/tags/tag46.xml" ContentType="application/vnd.openxmlformats-officedocument.presentationml.tags+xml"/>
  <Override PartName="/ppt/notesSlides/notesSlide47.xml" ContentType="application/vnd.openxmlformats-officedocument.presentationml.notesSlide+xml"/>
  <Override PartName="/ppt/tags/tag47.xml" ContentType="application/vnd.openxmlformats-officedocument.presentationml.tags+xml"/>
  <Override PartName="/ppt/notesSlides/notesSlide48.xml" ContentType="application/vnd.openxmlformats-officedocument.presentationml.notesSlide+xml"/>
  <Override PartName="/ppt/tags/tag48.xml" ContentType="application/vnd.openxmlformats-officedocument.presentationml.tags+xml"/>
  <Override PartName="/ppt/notesSlides/notesSlide49.xml" ContentType="application/vnd.openxmlformats-officedocument.presentationml.notesSlide+xml"/>
  <Override PartName="/ppt/tags/tag49.xml" ContentType="application/vnd.openxmlformats-officedocument.presentationml.tags+xml"/>
  <Override PartName="/ppt/notesSlides/notesSlide50.xml" ContentType="application/vnd.openxmlformats-officedocument.presentationml.notesSlide+xml"/>
  <Override PartName="/ppt/tags/tag50.xml" ContentType="application/vnd.openxmlformats-officedocument.presentationml.tags+xml"/>
  <Override PartName="/ppt/notesSlides/notesSlide51.xml" ContentType="application/vnd.openxmlformats-officedocument.presentationml.notesSlide+xml"/>
  <Override PartName="/ppt/tags/tag51.xml" ContentType="application/vnd.openxmlformats-officedocument.presentationml.tags+xml"/>
  <Override PartName="/ppt/notesSlides/notesSlide52.xml" ContentType="application/vnd.openxmlformats-officedocument.presentationml.notesSlide+xml"/>
  <Override PartName="/ppt/tags/tag52.xml" ContentType="application/vnd.openxmlformats-officedocument.presentationml.tags+xml"/>
  <Override PartName="/ppt/notesSlides/notesSlide53.xml" ContentType="application/vnd.openxmlformats-officedocument.presentationml.notesSlide+xml"/>
  <Override PartName="/ppt/tags/tag53.xml" ContentType="application/vnd.openxmlformats-officedocument.presentationml.tags+xml"/>
  <Override PartName="/ppt/notesSlides/notesSlide54.xml" ContentType="application/vnd.openxmlformats-officedocument.presentationml.notesSlide+xml"/>
  <Override PartName="/ppt/tags/tag54.xml" ContentType="application/vnd.openxmlformats-officedocument.presentationml.tags+xml"/>
  <Override PartName="/ppt/notesSlides/notesSlide55.xml" ContentType="application/vnd.openxmlformats-officedocument.presentationml.notesSlide+xml"/>
  <Override PartName="/ppt/tags/tag55.xml" ContentType="application/vnd.openxmlformats-officedocument.presentationml.tags+xml"/>
  <Override PartName="/ppt/notesSlides/notesSlide56.xml" ContentType="application/vnd.openxmlformats-officedocument.presentationml.notesSlide+xml"/>
  <Override PartName="/ppt/tags/tag56.xml" ContentType="application/vnd.openxmlformats-officedocument.presentationml.tags+xml"/>
  <Override PartName="/ppt/notesSlides/notesSlide57.xml" ContentType="application/vnd.openxmlformats-officedocument.presentationml.notesSlide+xml"/>
  <Override PartName="/ppt/tags/tag57.xml" ContentType="application/vnd.openxmlformats-officedocument.presentationml.tags+xml"/>
  <Override PartName="/ppt/notesSlides/notesSlide58.xml" ContentType="application/vnd.openxmlformats-officedocument.presentationml.notesSlide+xml"/>
  <Override PartName="/ppt/tags/tag58.xml" ContentType="application/vnd.openxmlformats-officedocument.presentationml.tags+xml"/>
  <Override PartName="/ppt/notesSlides/notesSlide59.xml" ContentType="application/vnd.openxmlformats-officedocument.presentationml.notesSlide+xml"/>
  <Override PartName="/ppt/tags/tag59.xml" ContentType="application/vnd.openxmlformats-officedocument.presentationml.tags+xml"/>
  <Override PartName="/ppt/notesSlides/notesSlide60.xml" ContentType="application/vnd.openxmlformats-officedocument.presentationml.notesSlide+xml"/>
  <Override PartName="/ppt/tags/tag60.xml" ContentType="application/vnd.openxmlformats-officedocument.presentationml.tags+xml"/>
  <Override PartName="/ppt/notesSlides/notesSlide61.xml" ContentType="application/vnd.openxmlformats-officedocument.presentationml.notesSlide+xml"/>
  <Override PartName="/ppt/tags/tag61.xml" ContentType="application/vnd.openxmlformats-officedocument.presentationml.tags+xml"/>
  <Override PartName="/ppt/notesSlides/notesSlide62.xml" ContentType="application/vnd.openxmlformats-officedocument.presentationml.notesSlide+xml"/>
  <Override PartName="/ppt/tags/tag62.xml" ContentType="application/vnd.openxmlformats-officedocument.presentationml.tags+xml"/>
  <Override PartName="/ppt/notesSlides/notesSlide63.xml" ContentType="application/vnd.openxmlformats-officedocument.presentationml.notesSlide+xml"/>
  <Override PartName="/ppt/tags/tag63.xml" ContentType="application/vnd.openxmlformats-officedocument.presentationml.tags+xml"/>
  <Override PartName="/ppt/notesSlides/notesSlide64.xml" ContentType="application/vnd.openxmlformats-officedocument.presentationml.notesSlide+xml"/>
  <Override PartName="/ppt/tags/tag64.xml" ContentType="application/vnd.openxmlformats-officedocument.presentationml.tags+xml"/>
  <Override PartName="/ppt/notesSlides/notesSlide65.xml" ContentType="application/vnd.openxmlformats-officedocument.presentationml.notesSlide+xml"/>
  <Override PartName="/ppt/tags/tag65.xml" ContentType="application/vnd.openxmlformats-officedocument.presentationml.tags+xml"/>
  <Override PartName="/ppt/notesSlides/notesSlide66.xml" ContentType="application/vnd.openxmlformats-officedocument.presentationml.notesSlide+xml"/>
  <Override PartName="/ppt/tags/tag66.xml" ContentType="application/vnd.openxmlformats-officedocument.presentationml.tags+xml"/>
  <Override PartName="/ppt/notesSlides/notesSlide67.xml" ContentType="application/vnd.openxmlformats-officedocument.presentationml.notesSlide+xml"/>
  <Override PartName="/ppt/tags/tag67.xml" ContentType="application/vnd.openxmlformats-officedocument.presentationml.tags+xml"/>
  <Override PartName="/ppt/notesSlides/notesSlide68.xml" ContentType="application/vnd.openxmlformats-officedocument.presentationml.notesSlide+xml"/>
  <Override PartName="/ppt/tags/tag68.xml" ContentType="application/vnd.openxmlformats-officedocument.presentationml.tags+xml"/>
  <Override PartName="/ppt/notesSlides/notesSlide69.xml" ContentType="application/vnd.openxmlformats-officedocument.presentationml.notesSlide+xml"/>
  <Override PartName="/ppt/tags/tag69.xml" ContentType="application/vnd.openxmlformats-officedocument.presentationml.tags+xml"/>
  <Override PartName="/ppt/notesSlides/notesSlide70.xml" ContentType="application/vnd.openxmlformats-officedocument.presentationml.notesSlide+xml"/>
  <Override PartName="/ppt/tags/tag7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handoutMasterIdLst>
    <p:handoutMasterId r:id="rId73"/>
  </p:handoutMasterIdLst>
  <p:sldIdLst>
    <p:sldId id="909" r:id="rId2"/>
    <p:sldId id="910" r:id="rId3"/>
    <p:sldId id="911" r:id="rId4"/>
    <p:sldId id="912" r:id="rId5"/>
    <p:sldId id="913" r:id="rId6"/>
    <p:sldId id="914" r:id="rId7"/>
    <p:sldId id="915" r:id="rId8"/>
    <p:sldId id="916" r:id="rId9"/>
    <p:sldId id="917" r:id="rId10"/>
    <p:sldId id="918" r:id="rId11"/>
    <p:sldId id="919" r:id="rId12"/>
    <p:sldId id="920" r:id="rId13"/>
    <p:sldId id="924" r:id="rId14"/>
    <p:sldId id="925" r:id="rId15"/>
    <p:sldId id="926" r:id="rId16"/>
    <p:sldId id="927" r:id="rId17"/>
    <p:sldId id="928" r:id="rId18"/>
    <p:sldId id="929" r:id="rId19"/>
    <p:sldId id="930" r:id="rId20"/>
    <p:sldId id="931" r:id="rId21"/>
    <p:sldId id="932" r:id="rId22"/>
    <p:sldId id="933" r:id="rId23"/>
    <p:sldId id="934" r:id="rId24"/>
    <p:sldId id="935" r:id="rId25"/>
    <p:sldId id="936" r:id="rId26"/>
    <p:sldId id="937" r:id="rId27"/>
    <p:sldId id="938" r:id="rId28"/>
    <p:sldId id="939" r:id="rId29"/>
    <p:sldId id="940" r:id="rId30"/>
    <p:sldId id="941" r:id="rId31"/>
    <p:sldId id="942" r:id="rId32"/>
    <p:sldId id="943" r:id="rId33"/>
    <p:sldId id="944" r:id="rId34"/>
    <p:sldId id="945" r:id="rId35"/>
    <p:sldId id="946" r:id="rId36"/>
    <p:sldId id="947" r:id="rId37"/>
    <p:sldId id="948" r:id="rId38"/>
    <p:sldId id="949" r:id="rId39"/>
    <p:sldId id="950" r:id="rId40"/>
    <p:sldId id="951" r:id="rId41"/>
    <p:sldId id="952" r:id="rId42"/>
    <p:sldId id="953" r:id="rId43"/>
    <p:sldId id="954" r:id="rId44"/>
    <p:sldId id="955" r:id="rId45"/>
    <p:sldId id="956" r:id="rId46"/>
    <p:sldId id="957" r:id="rId47"/>
    <p:sldId id="958" r:id="rId48"/>
    <p:sldId id="959" r:id="rId49"/>
    <p:sldId id="960" r:id="rId50"/>
    <p:sldId id="961" r:id="rId51"/>
    <p:sldId id="962" r:id="rId52"/>
    <p:sldId id="963" r:id="rId53"/>
    <p:sldId id="964" r:id="rId54"/>
    <p:sldId id="965" r:id="rId55"/>
    <p:sldId id="966" r:id="rId56"/>
    <p:sldId id="967" r:id="rId57"/>
    <p:sldId id="968" r:id="rId58"/>
    <p:sldId id="969" r:id="rId59"/>
    <p:sldId id="970" r:id="rId60"/>
    <p:sldId id="971" r:id="rId61"/>
    <p:sldId id="972" r:id="rId62"/>
    <p:sldId id="973" r:id="rId63"/>
    <p:sldId id="974" r:id="rId64"/>
    <p:sldId id="975" r:id="rId65"/>
    <p:sldId id="976" r:id="rId66"/>
    <p:sldId id="977" r:id="rId67"/>
    <p:sldId id="978" r:id="rId68"/>
    <p:sldId id="979" r:id="rId69"/>
    <p:sldId id="980" r:id="rId70"/>
    <p:sldId id="981" r:id="rId71"/>
  </p:sldIdLst>
  <p:sldSz cx="12192000" cy="6858000"/>
  <p:notesSz cx="7010400" cy="9296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vier Goyeneche" initials="JG" lastIdx="2" clrIdx="0">
    <p:extLst>
      <p:ext uri="{19B8F6BF-5375-455C-9EA6-DF929625EA0E}">
        <p15:presenceInfo xmlns:p15="http://schemas.microsoft.com/office/powerpoint/2012/main" userId="2e1c121113a56a1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5B9BD5"/>
    <a:srgbClr val="EAEFF7"/>
    <a:srgbClr val="FFFF00"/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FC90D3-4B39-4EAA-A2E5-375CADCCD77F}" v="1" dt="2026-04-30T04:13:28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3605" autoAdjust="0"/>
  </p:normalViewPr>
  <p:slideViewPr>
    <p:cSldViewPr snapToGrid="0">
      <p:cViewPr varScale="1">
        <p:scale>
          <a:sx n="76" d="100"/>
          <a:sy n="76" d="100"/>
        </p:scale>
        <p:origin x="69" y="35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ommentAuthors" Target="commentAuthors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De León R." userId="6107559c-c399-4371-a23a-d124d3599f82" providerId="ADAL" clId="{5C1DC654-8268-411A-9FD1-9BBD41CBB96C}"/>
    <pc:docChg chg="modSld">
      <pc:chgData name="Jaime De León R." userId="6107559c-c399-4371-a23a-d124d3599f82" providerId="ADAL" clId="{5C1DC654-8268-411A-9FD1-9BBD41CBB96C}" dt="2026-04-30T04:15:23.461" v="57" actId="20577"/>
      <pc:docMkLst>
        <pc:docMk/>
      </pc:docMkLst>
      <pc:sldChg chg="modSp mod">
        <pc:chgData name="Jaime De León R." userId="6107559c-c399-4371-a23a-d124d3599f82" providerId="ADAL" clId="{5C1DC654-8268-411A-9FD1-9BBD41CBB96C}" dt="2026-04-30T04:10:01.805" v="2" actId="20577"/>
        <pc:sldMkLst>
          <pc:docMk/>
          <pc:sldMk cId="3984375408" sldId="911"/>
        </pc:sldMkLst>
        <pc:spChg chg="mod">
          <ac:chgData name="Jaime De León R." userId="6107559c-c399-4371-a23a-d124d3599f82" providerId="ADAL" clId="{5C1DC654-8268-411A-9FD1-9BBD41CBB96C}" dt="2026-04-30T04:10:01.805" v="2" actId="20577"/>
          <ac:spMkLst>
            <pc:docMk/>
            <pc:sldMk cId="3984375408" sldId="911"/>
            <ac:spMk id="3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3:28.612" v="55"/>
        <pc:sldMkLst>
          <pc:docMk/>
          <pc:sldMk cId="489836058" sldId="912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489836058" sldId="912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3:28.612" v="55"/>
        <pc:sldMkLst>
          <pc:docMk/>
          <pc:sldMk cId="1894144362" sldId="913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894144362" sldId="913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3:28.612" v="55"/>
        <pc:sldMkLst>
          <pc:docMk/>
          <pc:sldMk cId="1782627661" sldId="914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782627661" sldId="914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3:28.612" v="55"/>
        <pc:sldMkLst>
          <pc:docMk/>
          <pc:sldMk cId="2546287316" sldId="915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2546287316" sldId="915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3:28.612" v="55"/>
        <pc:sldMkLst>
          <pc:docMk/>
          <pc:sldMk cId="4126487267" sldId="916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4126487267" sldId="916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3:28.612" v="55"/>
        <pc:sldMkLst>
          <pc:docMk/>
          <pc:sldMk cId="1191872885" sldId="917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191872885" sldId="917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3:28.612" v="55"/>
        <pc:sldMkLst>
          <pc:docMk/>
          <pc:sldMk cId="1744065489" sldId="918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744065489" sldId="918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3:28.612" v="55"/>
        <pc:sldMkLst>
          <pc:docMk/>
          <pc:sldMk cId="3069487619" sldId="919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3069487619" sldId="919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3:28.612" v="55"/>
        <pc:sldMkLst>
          <pc:docMk/>
          <pc:sldMk cId="1452097280" sldId="920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452097280" sldId="920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3:28.612" v="55"/>
        <pc:sldMkLst>
          <pc:docMk/>
          <pc:sldMk cId="4255029678" sldId="924"/>
        </pc:sldMkLst>
        <pc:graphicFrameChg chg="mod modGraphic">
          <ac:chgData name="Jaime De León R." userId="6107559c-c399-4371-a23a-d124d3599f82" providerId="ADAL" clId="{5C1DC654-8268-411A-9FD1-9BBD41CBB96C}" dt="2026-04-30T04:13:28.612" v="55"/>
          <ac:graphicFrameMkLst>
            <pc:docMk/>
            <pc:sldMk cId="4255029678" sldId="924"/>
            <ac:graphicFrameMk id="4" creationId="{00000000-0000-0000-0000-000000000000}"/>
          </ac:graphicFrameMkLst>
        </pc:graphicFrameChg>
      </pc:sldChg>
      <pc:sldChg chg="modSp mod">
        <pc:chgData name="Jaime De León R." userId="6107559c-c399-4371-a23a-d124d3599f82" providerId="ADAL" clId="{5C1DC654-8268-411A-9FD1-9BBD41CBB96C}" dt="2026-04-30T04:13:28.612" v="55"/>
        <pc:sldMkLst>
          <pc:docMk/>
          <pc:sldMk cId="1757247513" sldId="925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757247513" sldId="925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1:22.157" v="28" actId="20577"/>
        <pc:sldMkLst>
          <pc:docMk/>
          <pc:sldMk cId="60331959" sldId="926"/>
        </pc:sldMkLst>
        <pc:spChg chg="mod">
          <ac:chgData name="Jaime De León R." userId="6107559c-c399-4371-a23a-d124d3599f82" providerId="ADAL" clId="{5C1DC654-8268-411A-9FD1-9BBD41CBB96C}" dt="2026-04-30T04:11:22.157" v="28" actId="20577"/>
          <ac:spMkLst>
            <pc:docMk/>
            <pc:sldMk cId="60331959" sldId="926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1:30.917" v="30" actId="20577"/>
        <pc:sldMkLst>
          <pc:docMk/>
          <pc:sldMk cId="3130781263" sldId="927"/>
        </pc:sldMkLst>
        <pc:spChg chg="mod">
          <ac:chgData name="Jaime De León R." userId="6107559c-c399-4371-a23a-d124d3599f82" providerId="ADAL" clId="{5C1DC654-8268-411A-9FD1-9BBD41CBB96C}" dt="2026-04-30T04:11:30.917" v="30" actId="20577"/>
          <ac:spMkLst>
            <pc:docMk/>
            <pc:sldMk cId="3130781263" sldId="927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1:44.181" v="32" actId="20577"/>
        <pc:sldMkLst>
          <pc:docMk/>
          <pc:sldMk cId="3808303045" sldId="928"/>
        </pc:sldMkLst>
        <pc:spChg chg="mod">
          <ac:chgData name="Jaime De León R." userId="6107559c-c399-4371-a23a-d124d3599f82" providerId="ADAL" clId="{5C1DC654-8268-411A-9FD1-9BBD41CBB96C}" dt="2026-04-30T04:11:44.181" v="32" actId="20577"/>
          <ac:spMkLst>
            <pc:docMk/>
            <pc:sldMk cId="3808303045" sldId="928"/>
            <ac:spMk id="4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1:51.894" v="34" actId="20577"/>
        <pc:sldMkLst>
          <pc:docMk/>
          <pc:sldMk cId="4172602740" sldId="929"/>
        </pc:sldMkLst>
        <pc:spChg chg="mod">
          <ac:chgData name="Jaime De León R." userId="6107559c-c399-4371-a23a-d124d3599f82" providerId="ADAL" clId="{5C1DC654-8268-411A-9FD1-9BBD41CBB96C}" dt="2026-04-30T04:11:51.894" v="34" actId="20577"/>
          <ac:spMkLst>
            <pc:docMk/>
            <pc:sldMk cId="4172602740" sldId="929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2:01.095" v="36" actId="20577"/>
        <pc:sldMkLst>
          <pc:docMk/>
          <pc:sldMk cId="443380332" sldId="930"/>
        </pc:sldMkLst>
        <pc:spChg chg="mod">
          <ac:chgData name="Jaime De León R." userId="6107559c-c399-4371-a23a-d124d3599f82" providerId="ADAL" clId="{5C1DC654-8268-411A-9FD1-9BBD41CBB96C}" dt="2026-04-30T04:12:01.095" v="36" actId="20577"/>
          <ac:spMkLst>
            <pc:docMk/>
            <pc:sldMk cId="443380332" sldId="930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2:24.449" v="38" actId="20577"/>
        <pc:sldMkLst>
          <pc:docMk/>
          <pc:sldMk cId="3003451982" sldId="931"/>
        </pc:sldMkLst>
        <pc:spChg chg="mod">
          <ac:chgData name="Jaime De León R." userId="6107559c-c399-4371-a23a-d124d3599f82" providerId="ADAL" clId="{5C1DC654-8268-411A-9FD1-9BBD41CBB96C}" dt="2026-04-30T04:12:24.449" v="38" actId="20577"/>
          <ac:spMkLst>
            <pc:docMk/>
            <pc:sldMk cId="3003451982" sldId="931"/>
            <ac:spMk id="4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2:29.628" v="40" actId="20577"/>
        <pc:sldMkLst>
          <pc:docMk/>
          <pc:sldMk cId="2142541859" sldId="932"/>
        </pc:sldMkLst>
        <pc:spChg chg="mod">
          <ac:chgData name="Jaime De León R." userId="6107559c-c399-4371-a23a-d124d3599f82" providerId="ADAL" clId="{5C1DC654-8268-411A-9FD1-9BBD41CBB96C}" dt="2026-04-30T04:12:29.628" v="40" actId="20577"/>
          <ac:spMkLst>
            <pc:docMk/>
            <pc:sldMk cId="2142541859" sldId="932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2:36.021" v="42" actId="20577"/>
        <pc:sldMkLst>
          <pc:docMk/>
          <pc:sldMk cId="1844148743" sldId="933"/>
        </pc:sldMkLst>
        <pc:spChg chg="mod">
          <ac:chgData name="Jaime De León R." userId="6107559c-c399-4371-a23a-d124d3599f82" providerId="ADAL" clId="{5C1DC654-8268-411A-9FD1-9BBD41CBB96C}" dt="2026-04-30T04:12:36.021" v="42" actId="20577"/>
          <ac:spMkLst>
            <pc:docMk/>
            <pc:sldMk cId="1844148743" sldId="933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2:41.523" v="44" actId="20577"/>
        <pc:sldMkLst>
          <pc:docMk/>
          <pc:sldMk cId="136719312" sldId="934"/>
        </pc:sldMkLst>
        <pc:spChg chg="mod">
          <ac:chgData name="Jaime De León R." userId="6107559c-c399-4371-a23a-d124d3599f82" providerId="ADAL" clId="{5C1DC654-8268-411A-9FD1-9BBD41CBB96C}" dt="2026-04-30T04:12:41.523" v="44" actId="20577"/>
          <ac:spMkLst>
            <pc:docMk/>
            <pc:sldMk cId="136719312" sldId="934"/>
            <ac:spMk id="4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2:45.800" v="46" actId="20577"/>
        <pc:sldMkLst>
          <pc:docMk/>
          <pc:sldMk cId="1150495936" sldId="935"/>
        </pc:sldMkLst>
        <pc:spChg chg="mod">
          <ac:chgData name="Jaime De León R." userId="6107559c-c399-4371-a23a-d124d3599f82" providerId="ADAL" clId="{5C1DC654-8268-411A-9FD1-9BBD41CBB96C}" dt="2026-04-30T04:12:45.800" v="46" actId="20577"/>
          <ac:spMkLst>
            <pc:docMk/>
            <pc:sldMk cId="1150495936" sldId="935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2:52.497" v="48" actId="20577"/>
        <pc:sldMkLst>
          <pc:docMk/>
          <pc:sldMk cId="1422676007" sldId="936"/>
        </pc:sldMkLst>
        <pc:spChg chg="mod">
          <ac:chgData name="Jaime De León R." userId="6107559c-c399-4371-a23a-d124d3599f82" providerId="ADAL" clId="{5C1DC654-8268-411A-9FD1-9BBD41CBB96C}" dt="2026-04-30T04:12:52.497" v="48" actId="20577"/>
          <ac:spMkLst>
            <pc:docMk/>
            <pc:sldMk cId="1422676007" sldId="936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2:58.814" v="50" actId="20577"/>
        <pc:sldMkLst>
          <pc:docMk/>
          <pc:sldMk cId="1189742273" sldId="937"/>
        </pc:sldMkLst>
        <pc:spChg chg="mod">
          <ac:chgData name="Jaime De León R." userId="6107559c-c399-4371-a23a-d124d3599f82" providerId="ADAL" clId="{5C1DC654-8268-411A-9FD1-9BBD41CBB96C}" dt="2026-04-30T04:12:58.814" v="50" actId="20577"/>
          <ac:spMkLst>
            <pc:docMk/>
            <pc:sldMk cId="1189742273" sldId="937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3:03.707" v="52" actId="20577"/>
        <pc:sldMkLst>
          <pc:docMk/>
          <pc:sldMk cId="949313608" sldId="938"/>
        </pc:sldMkLst>
        <pc:spChg chg="mod">
          <ac:chgData name="Jaime De León R." userId="6107559c-c399-4371-a23a-d124d3599f82" providerId="ADAL" clId="{5C1DC654-8268-411A-9FD1-9BBD41CBB96C}" dt="2026-04-30T04:13:03.707" v="52" actId="20577"/>
          <ac:spMkLst>
            <pc:docMk/>
            <pc:sldMk cId="949313608" sldId="938"/>
            <ac:spMk id="4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3:09.455" v="54" actId="20577"/>
        <pc:sldMkLst>
          <pc:docMk/>
          <pc:sldMk cId="2074267522" sldId="939"/>
        </pc:sldMkLst>
        <pc:spChg chg="mod">
          <ac:chgData name="Jaime De León R." userId="6107559c-c399-4371-a23a-d124d3599f82" providerId="ADAL" clId="{5C1DC654-8268-411A-9FD1-9BBD41CBB96C}" dt="2026-04-30T04:13:09.455" v="54" actId="20577"/>
          <ac:spMkLst>
            <pc:docMk/>
            <pc:sldMk cId="2074267522" sldId="939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1803120079" sldId="940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803120079" sldId="940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2987713134" sldId="941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2987713134" sldId="941"/>
            <ac:spMk id="4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2124279758" sldId="942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2124279758" sldId="942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2535685726" sldId="943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2535685726" sldId="943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152215180" sldId="944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52215180" sldId="944"/>
            <ac:spMk id="4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1646174179" sldId="945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646174179" sldId="945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1299602935" sldId="946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299602935" sldId="946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1266740658" sldId="947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266740658" sldId="947"/>
            <ac:spMk id="4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1891146707" sldId="948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891146707" sldId="948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3661999632" sldId="949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3661999632" sldId="949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1791787069" sldId="950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791787069" sldId="950"/>
            <ac:spMk id="4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3548637268" sldId="951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3548637268" sldId="951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1982775999" sldId="952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982775999" sldId="952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2386325906" sldId="953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2386325906" sldId="953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4012686474" sldId="954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4012686474" sldId="954"/>
            <ac:spMk id="4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3901164326" sldId="955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3901164326" sldId="955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3460281922" sldId="956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3460281922" sldId="956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1162717347" sldId="957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162717347" sldId="957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2371139130" sldId="958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2371139130" sldId="958"/>
            <ac:spMk id="4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479483457" sldId="959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479483457" sldId="959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2081977729" sldId="960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2081977729" sldId="960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2427414467" sldId="961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2427414467" sldId="961"/>
            <ac:spMk id="4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2173125228" sldId="962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2173125228" sldId="962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3277209724" sldId="963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3277209724" sldId="963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4020131228" sldId="964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4020131228" sldId="964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1493297198" sldId="965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1493297198" sldId="965"/>
            <ac:spMk id="4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2764080119" sldId="966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2764080119" sldId="966"/>
            <ac:spMk id="2" creationId="{00000000-0000-0000-0000-000000000000}"/>
          </ac:spMkLst>
        </pc:spChg>
      </pc:sldChg>
      <pc:sldChg chg="modSp">
        <pc:chgData name="Jaime De León R." userId="6107559c-c399-4371-a23a-d124d3599f82" providerId="ADAL" clId="{5C1DC654-8268-411A-9FD1-9BBD41CBB96C}" dt="2026-04-30T04:13:28.612" v="55"/>
        <pc:sldMkLst>
          <pc:docMk/>
          <pc:sldMk cId="2030100621" sldId="967"/>
        </pc:sldMkLst>
        <pc:spChg chg="mod">
          <ac:chgData name="Jaime De León R." userId="6107559c-c399-4371-a23a-d124d3599f82" providerId="ADAL" clId="{5C1DC654-8268-411A-9FD1-9BBD41CBB96C}" dt="2026-04-30T04:13:28.612" v="55"/>
          <ac:spMkLst>
            <pc:docMk/>
            <pc:sldMk cId="2030100621" sldId="967"/>
            <ac:spMk id="2" creationId="{00000000-0000-0000-0000-000000000000}"/>
          </ac:spMkLst>
        </pc:spChg>
      </pc:sldChg>
      <pc:sldChg chg="modSp mod">
        <pc:chgData name="Jaime De León R." userId="6107559c-c399-4371-a23a-d124d3599f82" providerId="ADAL" clId="{5C1DC654-8268-411A-9FD1-9BBD41CBB96C}" dt="2026-04-30T04:15:23.461" v="57" actId="20577"/>
        <pc:sldMkLst>
          <pc:docMk/>
          <pc:sldMk cId="3640295545" sldId="980"/>
        </pc:sldMkLst>
        <pc:spChg chg="mod">
          <ac:chgData name="Jaime De León R." userId="6107559c-c399-4371-a23a-d124d3599f82" providerId="ADAL" clId="{5C1DC654-8268-411A-9FD1-9BBD41CBB96C}" dt="2026-04-30T04:15:23.461" v="57" actId="20577"/>
          <ac:spMkLst>
            <pc:docMk/>
            <pc:sldMk cId="3640295545" sldId="980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5F6EE9-935D-ED40-B8EF-314D21E279DA}" type="datetimeFigureOut">
              <a:rPr lang="es-ES_tradnl" smtClean="0"/>
              <a:t>29/04/2026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21158-D753-A74D-BBAD-9D751D620BC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754298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14FEA-9014-423A-A22E-EF140AFAA1A3}" type="datetimeFigureOut">
              <a:rPr lang="es-MX" smtClean="0"/>
              <a:t>29/04/2026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A9E69-4488-4520-A049-A6E38DF9C6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5875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5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9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2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3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4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5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6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7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8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9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0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2.xml"/></Relationships>
</file>

<file path=ppt/notesSlides/_rels/notesSlide4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3.xml"/></Relationships>
</file>

<file path=ppt/notesSlides/_rels/notesSlide4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4.xml"/></Relationships>
</file>

<file path=ppt/notesSlides/_rels/notesSlide4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5.xml"/></Relationships>
</file>

<file path=ppt/notesSlides/_rels/notesSlide4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6.xml"/></Relationships>
</file>

<file path=ppt/notesSlides/_rels/notesSlide4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7.xm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8.xml"/></Relationships>
</file>

<file path=ppt/notesSlides/_rels/notesSlide4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9.xml"/></Relationships>
</file>

<file path=ppt/notesSlides/_rels/notesSlide5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0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2.xml"/></Relationships>
</file>

<file path=ppt/notesSlides/_rels/notesSlide5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3.xml"/></Relationships>
</file>

<file path=ppt/notesSlides/_rels/notesSlide5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4.xml"/></Relationships>
</file>

<file path=ppt/notesSlides/_rels/notesSlide5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5.xml"/></Relationships>
</file>

<file path=ppt/notesSlides/_rels/notesSlide5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6.xml"/></Relationships>
</file>

<file path=ppt/notesSlides/_rels/notesSlide5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7.xml"/></Relationships>
</file>

<file path=ppt/notesSlides/_rels/notesSlide5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8.xml"/></Relationships>
</file>

<file path=ppt/notesSlides/_rels/notesSlide5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9.xml"/></Relationships>
</file>

<file path=ppt/notesSlides/_rels/notesSlide6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0.xml"/></Relationships>
</file>

<file path=ppt/notesSlides/_rels/notesSlide6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1.xml"/></Relationships>
</file>

<file path=ppt/notesSlides/_rels/notesSlide6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2.xml"/></Relationships>
</file>

<file path=ppt/notesSlides/_rels/notesSlide6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3.xml"/></Relationships>
</file>

<file path=ppt/notesSlides/_rels/notesSlide6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4.xml"/></Relationships>
</file>

<file path=ppt/notesSlides/_rels/notesSlide6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5.xml"/></Relationships>
</file>

<file path=ppt/notesSlides/_rels/notesSlide6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6.xml"/></Relationships>
</file>

<file path=ppt/notesSlides/_rels/notesSlide6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7.xml"/></Relationships>
</file>

<file path=ppt/notesSlides/_rels/notesSlide6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8.xml"/></Relationships>
</file>

<file path=ppt/notesSlides/_rels/notesSlide6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9.xml"/></Relationships>
</file>

<file path=ppt/notesSlides/_rels/notesSlide7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4476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3073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386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1442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4078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0811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6962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814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6342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1274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04810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6039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23318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62154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3636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51062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84497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26241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6614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8450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14670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24396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19725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99352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31163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80341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48596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12560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3778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09899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63813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05527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39890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59282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45765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01073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410136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55023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28943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72878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08498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04183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68364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46919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56887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935755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60094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184259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067500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0891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990250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285815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227976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502905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588984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404947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578638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49459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230485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60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546835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61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784381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62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944524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63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390019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64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447469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65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389444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66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490125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67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147082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68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896025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69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935708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70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3416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2282-76AD-4050-AF20-F06B8EB47127}" type="datetimeFigureOut">
              <a:rPr lang="es-MX" smtClean="0"/>
              <a:t>29/04/2026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3E9D-8763-47DE-8B50-9713E2AB819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0044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2282-76AD-4050-AF20-F06B8EB47127}" type="datetimeFigureOut">
              <a:rPr lang="es-MX" smtClean="0"/>
              <a:t>29/04/2026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3E9D-8763-47DE-8B50-9713E2AB819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3959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2282-76AD-4050-AF20-F06B8EB47127}" type="datetimeFigureOut">
              <a:rPr lang="es-MX" smtClean="0"/>
              <a:t>29/04/2026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3E9D-8763-47DE-8B50-9713E2AB819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50401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2282-76AD-4050-AF20-F06B8EB47127}" type="datetimeFigureOut">
              <a:rPr lang="es-MX" smtClean="0"/>
              <a:t>29/04/2026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3E9D-8763-47DE-8B50-9713E2AB819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37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2282-76AD-4050-AF20-F06B8EB47127}" type="datetimeFigureOut">
              <a:rPr lang="es-MX" smtClean="0"/>
              <a:t>29/04/2026</a:t>
            </a:fld>
            <a:endParaRPr lang="es-MX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3E9D-8763-47DE-8B50-9713E2AB819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8110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2282-76AD-4050-AF20-F06B8EB47127}" type="datetimeFigureOut">
              <a:rPr lang="es-MX" smtClean="0"/>
              <a:t>29/04/2026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3E9D-8763-47DE-8B50-9713E2AB819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65683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2282-76AD-4050-AF20-F06B8EB47127}" type="datetimeFigureOut">
              <a:rPr lang="es-MX" smtClean="0"/>
              <a:t>29/04/2026</a:t>
            </a:fld>
            <a:endParaRPr lang="es-MX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3E9D-8763-47DE-8B50-9713E2AB819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379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2282-76AD-4050-AF20-F06B8EB47127}" type="datetimeFigureOut">
              <a:rPr lang="es-MX" smtClean="0"/>
              <a:t>29/04/2026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3E9D-8763-47DE-8B50-9713E2AB819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70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2282-76AD-4050-AF20-F06B8EB47127}" type="datetimeFigureOut">
              <a:rPr lang="es-MX" smtClean="0"/>
              <a:t>29/04/2026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3E9D-8763-47DE-8B50-9713E2AB819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47310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2282-76AD-4050-AF20-F06B8EB47127}" type="datetimeFigureOut">
              <a:rPr lang="es-MX" smtClean="0"/>
              <a:t>29/04/2026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3E9D-8763-47DE-8B50-9713E2AB819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938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2282-76AD-4050-AF20-F06B8EB47127}" type="datetimeFigureOut">
              <a:rPr lang="es-MX" smtClean="0"/>
              <a:t>29/04/2026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3E9D-8763-47DE-8B50-9713E2AB819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78656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8464-2D0C-4405-9DE5-D60CBE4FE90E}" type="datetimeFigureOut">
              <a:rPr lang="es-MX" smtClean="0"/>
              <a:t>29/04/2026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5EEC9-5547-4813-8888-10EC0C21884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51299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2282-76AD-4050-AF20-F06B8EB47127}" type="datetimeFigureOut">
              <a:rPr lang="es-MX" smtClean="0"/>
              <a:t>29/04/2026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3E9D-8763-47DE-8B50-9713E2AB819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0196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42282-76AD-4050-AF20-F06B8EB47127}" type="datetimeFigureOut">
              <a:rPr lang="es-MX" smtClean="0"/>
              <a:t>29/04/2026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D3E9D-8763-47DE-8B50-9713E2AB819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3323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Ejercicio</a:t>
            </a:r>
            <a:br>
              <a:rPr lang="es-MX" dirty="0"/>
            </a:br>
            <a:r>
              <a:rPr lang="es-MX" dirty="0"/>
              <a:t>Conciliación</a:t>
            </a:r>
            <a:br>
              <a:rPr lang="es-MX" dirty="0"/>
            </a:br>
            <a:r>
              <a:rPr lang="es-MX" dirty="0"/>
              <a:t>Contable-Fiscal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Impuestos Corporativos I</a:t>
            </a:r>
          </a:p>
        </p:txBody>
      </p:sp>
    </p:spTree>
    <p:extLst>
      <p:ext uri="{BB962C8B-B14F-4D97-AF65-F5344CB8AC3E}">
        <p14:creationId xmlns:p14="http://schemas.microsoft.com/office/powerpoint/2010/main" val="2480731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Elaboración de la Conciliación Contable-Fiscal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¿Existen partidas en el Balance General que fiscalmente correspondan a Resultados?</a:t>
            </a:r>
          </a:p>
          <a:p>
            <a:r>
              <a:rPr lang="es-MX" dirty="0"/>
              <a:t>¿Existen partidas en el Estado de Resultados que fiscalmente deban ser valuadas de manera distinta?</a:t>
            </a:r>
          </a:p>
          <a:p>
            <a:r>
              <a:rPr lang="es-MX" dirty="0"/>
              <a:t>¿Existen partidas en el Estado de Resultados que fiscalmente no sean acumulables o deducibles?</a:t>
            </a:r>
          </a:p>
          <a:p>
            <a:r>
              <a:rPr lang="es-MX" dirty="0"/>
              <a:t>¿Existieron transacciones con efecto “cero” en la contabilidad cuyos efectos fiscales son distintos?</a:t>
            </a:r>
          </a:p>
          <a:p>
            <a:r>
              <a:rPr lang="es-MX" dirty="0"/>
              <a:t>¿Cuál es el Ajuste Anual por Inflación?</a:t>
            </a:r>
          </a:p>
          <a:p>
            <a:r>
              <a:rPr lang="es-MX" dirty="0"/>
              <a:t>¿Existen partidas de Ejercicios Anteriores con efectos en este Ejercicio?</a:t>
            </a:r>
          </a:p>
          <a:p>
            <a:r>
              <a:rPr lang="es-MX" dirty="0"/>
              <a:t>¿Existen Pérdidas de Ejercicios Anteriores?</a:t>
            </a:r>
          </a:p>
          <a:p>
            <a:pPr marL="0" indent="0">
              <a:buNone/>
            </a:pP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82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– Conciliación Contable-Fiscal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Determine el Resultado Fiscal del Ejercicio 2025</a:t>
            </a:r>
          </a:p>
          <a:p>
            <a:pPr lvl="1"/>
            <a:r>
              <a:rPr lang="es-MX" dirty="0"/>
              <a:t>Para estos fines, considere las disposiciones fiscales vigentes en 2025</a:t>
            </a:r>
          </a:p>
          <a:p>
            <a:pPr lvl="1"/>
            <a:r>
              <a:rPr lang="es-MX" dirty="0"/>
              <a:t>Los índices (INPC) y tipos de cambio oficiales, deberán ser los reales para cada una de las fechas.</a:t>
            </a:r>
          </a:p>
        </p:txBody>
      </p:sp>
    </p:spTree>
    <p:extLst>
      <p:ext uri="{BB962C8B-B14F-4D97-AF65-F5344CB8AC3E}">
        <p14:creationId xmlns:p14="http://schemas.microsoft.com/office/powerpoint/2010/main" val="3984375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Agosto de 2025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Un grupo de inversionistas decidieron crear una nueva Sociedad Anónima y para ello suscribieron un capital social de $10,000,000, pero en ese momento pagaron solamente $50,000 que depositaron en caja y la diferencia la quedaron a deber.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89836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256" y="365125"/>
            <a:ext cx="10515600" cy="1325563"/>
          </a:xfrm>
        </p:spPr>
        <p:txBody>
          <a:bodyPr/>
          <a:lstStyle/>
          <a:p>
            <a:r>
              <a:rPr lang="es-MX" dirty="0"/>
              <a:t>Agosto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Capital Suscrito no exhibido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9,950,000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14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Septiembre de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Sin movimientos</a:t>
            </a:r>
          </a:p>
        </p:txBody>
      </p:sp>
    </p:spTree>
    <p:extLst>
      <p:ext uri="{BB962C8B-B14F-4D97-AF65-F5344CB8AC3E}">
        <p14:creationId xmlns:p14="http://schemas.microsoft.com/office/powerpoint/2010/main" val="1782627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Octubre de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Sin movimientos</a:t>
            </a:r>
          </a:p>
        </p:txBody>
      </p:sp>
    </p:spTree>
    <p:extLst>
      <p:ext uri="{BB962C8B-B14F-4D97-AF65-F5344CB8AC3E}">
        <p14:creationId xmlns:p14="http://schemas.microsoft.com/office/powerpoint/2010/main" val="2546287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Noviembre de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Los accionistas exhibieron $5,000,000 del capital suscrito y lo depositaron en una cuenta bancaria (chequera) sin que generara ningún interés</a:t>
            </a:r>
          </a:p>
        </p:txBody>
      </p:sp>
    </p:spTree>
    <p:extLst>
      <p:ext uri="{BB962C8B-B14F-4D97-AF65-F5344CB8AC3E}">
        <p14:creationId xmlns:p14="http://schemas.microsoft.com/office/powerpoint/2010/main" val="4126487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Noviembre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Capital Suscrito no exhibido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872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Diciembre de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Sin movimientos</a:t>
            </a:r>
          </a:p>
        </p:txBody>
      </p:sp>
    </p:spTree>
    <p:extLst>
      <p:ext uri="{BB962C8B-B14F-4D97-AF65-F5344CB8AC3E}">
        <p14:creationId xmlns:p14="http://schemas.microsoft.com/office/powerpoint/2010/main" val="174406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2025 – Ajuste Anual por Inflación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6912700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45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3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Agosto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Septiembre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Octubre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Diciembre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Promedio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$50,000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$50,000</a:t>
                      </a:r>
                      <a:endParaRPr kumimoji="0" lang="es-MX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$50,000</a:t>
                      </a:r>
                      <a:endParaRPr kumimoji="0" lang="es-MX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$50,000</a:t>
                      </a:r>
                      <a:endParaRPr kumimoji="0" lang="es-MX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$50,000</a:t>
                      </a:r>
                      <a:endParaRPr kumimoji="0" lang="es-MX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$50,000</a:t>
                      </a:r>
                      <a:endParaRPr kumimoji="0" lang="es-MX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$50,000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Bancos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$2,000,000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9487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2025 –Pérdida Fiscal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9837739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9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8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7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Resultado</a:t>
                      </a:r>
                      <a:r>
                        <a:rPr lang="es-MX" baseline="0" dirty="0"/>
                        <a:t> Contable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Ajuste</a:t>
                      </a:r>
                      <a:r>
                        <a:rPr lang="es-MX" baseline="0" dirty="0"/>
                        <a:t> Anual por Inflación Deducible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Utilidad (Pérdida)</a:t>
                      </a:r>
                      <a:r>
                        <a:rPr lang="es-MX" baseline="0" dirty="0"/>
                        <a:t> Fiscal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097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Coeficiente de Utilidad para pagos provisionales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825978"/>
              </p:ext>
            </p:extLst>
          </p:nvPr>
        </p:nvGraphicFramePr>
        <p:xfrm>
          <a:off x="2233454" y="1825625"/>
          <a:ext cx="4420235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1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Utilidad (Pérdida) Fiscal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Pagos a Socios</a:t>
                      </a:r>
                      <a:r>
                        <a:rPr lang="es-MX" baseline="0" dirty="0"/>
                        <a:t> de S. Civiles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Utilidad para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Acumulables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MX" dirty="0"/>
                        <a:t>Ajuste Anual</a:t>
                      </a:r>
                      <a:r>
                        <a:rPr lang="es-MX" baseline="0" dirty="0"/>
                        <a:t> Inflación Acumulable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</a:t>
                      </a:r>
                      <a:r>
                        <a:rPr lang="es-MX" baseline="0" dirty="0"/>
                        <a:t> Nominales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Coeficiente</a:t>
                      </a:r>
                      <a:r>
                        <a:rPr lang="es-MX" baseline="0" dirty="0"/>
                        <a:t> de Utilidad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25014" y="5872766"/>
            <a:ext cx="5755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* Primer Ejercicio de la Sociedad y por lo tanto fue irregular</a:t>
            </a:r>
          </a:p>
        </p:txBody>
      </p:sp>
    </p:spTree>
    <p:extLst>
      <p:ext uri="{BB962C8B-B14F-4D97-AF65-F5344CB8AC3E}">
        <p14:creationId xmlns:p14="http://schemas.microsoft.com/office/powerpoint/2010/main" val="4255029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Fin de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7247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4256" y="365125"/>
            <a:ext cx="10515600" cy="1325563"/>
          </a:xfrm>
        </p:spPr>
        <p:txBody>
          <a:bodyPr/>
          <a:lstStyle/>
          <a:p>
            <a:r>
              <a:rPr lang="es-ES" dirty="0"/>
              <a:t>Enero de 2025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Se adquirieron acciones en la Bolsa Mexicana de Valores por $5,000,000 y se pagaron con un cheque.</a:t>
            </a:r>
          </a:p>
        </p:txBody>
      </p:sp>
    </p:spTree>
    <p:extLst>
      <p:ext uri="{BB962C8B-B14F-4D97-AF65-F5344CB8AC3E}">
        <p14:creationId xmlns:p14="http://schemas.microsoft.com/office/powerpoint/2010/main" val="60331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Enero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Inversiones Temporales</a:t>
                      </a:r>
                      <a:r>
                        <a:rPr lang="es-MX" baseline="0" dirty="0"/>
                        <a:t> (Acciones BMV)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781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Enero de 2025 - Saldos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Inversiones Temporales (Acciones</a:t>
                      </a:r>
                      <a:r>
                        <a:rPr lang="es-MX" baseline="0" dirty="0"/>
                        <a:t>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(10,000,000)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Capital Social Suscrito No Exhibido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4,950,000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303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Febrero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El primer día del mes, los accionistas exhibieron (pagaron) en efectivo el capital pendiente por la cantidad de $4,950,000 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Ese mismo día, de los $4,950,000, $950,000 quedaron depositados en la cuenta de cheques y los restantes $4,000,000 se invirtieron en CETES a 91 días, con un valor nominal total de $4,300,000</a:t>
            </a:r>
          </a:p>
        </p:txBody>
      </p:sp>
    </p:spTree>
    <p:extLst>
      <p:ext uri="{BB962C8B-B14F-4D97-AF65-F5344CB8AC3E}">
        <p14:creationId xmlns:p14="http://schemas.microsoft.com/office/powerpoint/2010/main" val="4172602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Febrero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  <a:r>
                        <a:rPr lang="es-MX" baseline="0" dirty="0"/>
                        <a:t> de febrero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950,000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4,300,000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Intereses cobrados por anticipado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Capital</a:t>
                      </a:r>
                      <a:r>
                        <a:rPr lang="es-MX" baseline="0" dirty="0"/>
                        <a:t> Suscrito no exhibido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4,950,000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28 de 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Intereses cobrados por anticipado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Intereses ganados por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380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Febrero de 2025 - Saldos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Bancos (Chequera</a:t>
                      </a:r>
                      <a:r>
                        <a:rPr lang="es-MX" baseline="0" dirty="0"/>
                        <a:t> MN)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950,000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4,300,000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</a:t>
                      </a:r>
                      <a:r>
                        <a:rPr lang="es-MX" baseline="0" dirty="0"/>
                        <a:t> cobrados por anticipado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Inversiones</a:t>
                      </a:r>
                      <a:r>
                        <a:rPr lang="es-MX" baseline="0" dirty="0"/>
                        <a:t> Temporales (Acciones)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(10,000,000)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3451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 Marzo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Se adquirieron dos Centenarios en $27,000 cada uno, que se pagaron con un cheque.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Se adquirieron 80,000 acciones de un Fondo de Inversión en Instrumentos de Deuda a $1.00 cada una, mismas que fueron pagadas con un cheque. Al final del mes, las acciones tenían un precio de $1.02 cada una.</a:t>
            </a:r>
          </a:p>
        </p:txBody>
      </p:sp>
    </p:spTree>
    <p:extLst>
      <p:ext uri="{BB962C8B-B14F-4D97-AF65-F5344CB8AC3E}">
        <p14:creationId xmlns:p14="http://schemas.microsoft.com/office/powerpoint/2010/main" val="2142541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Marzo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0986526"/>
              </p:ext>
            </p:extLst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Centenarios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Fondos</a:t>
                      </a:r>
                      <a:r>
                        <a:rPr lang="es-MX" baseline="0" dirty="0"/>
                        <a:t> de Inversión en Instrumentos de Deuda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31 de 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Fondos de Inversión en</a:t>
                      </a:r>
                      <a:r>
                        <a:rPr lang="es-MX" baseline="0" dirty="0"/>
                        <a:t> Instrumentos de Deuda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Intereses ganados por Fondos</a:t>
                      </a:r>
                      <a:r>
                        <a:rPr lang="es-MX" baseline="0" dirty="0"/>
                        <a:t> de Inversión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31 de 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Intereses cobrados por anticipado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Intereses ganados por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148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Marzo de 2025 - Saldos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39605517"/>
              </p:ext>
            </p:extLst>
          </p:nvPr>
        </p:nvGraphicFramePr>
        <p:xfrm>
          <a:off x="838200" y="1825625"/>
          <a:ext cx="51816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Bancos (Chequera</a:t>
                      </a:r>
                      <a:r>
                        <a:rPr lang="es-MX" baseline="0" dirty="0"/>
                        <a:t> MN)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816,000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4,300,000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Intereses</a:t>
                      </a:r>
                      <a:r>
                        <a:rPr lang="es-MX" baseline="0" dirty="0"/>
                        <a:t> cobrados por anticipado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(100,000)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Centenarios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Fondos de Inversión de Deuda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81,600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MX" dirty="0"/>
                        <a:t>Inversiones</a:t>
                      </a:r>
                      <a:r>
                        <a:rPr lang="es-MX" baseline="0" dirty="0"/>
                        <a:t> Temporales (Acciones)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(10,000,000)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10089642"/>
              </p:ext>
            </p:extLst>
          </p:nvPr>
        </p:nvGraphicFramePr>
        <p:xfrm>
          <a:off x="6172200" y="1825625"/>
          <a:ext cx="5181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</a:t>
                      </a:r>
                      <a:r>
                        <a:rPr lang="es-MX" baseline="0" dirty="0"/>
                        <a:t> Fondos de Inv.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(1,600)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19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Abril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Un nuevo accionista fue admitido en la Sociedad y para ello aportó un terreno valuado en $1,000,000. La Sociedad le entregó acciones por un valor total de $700,000 y la diferencia la consideró como prima en colocación.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El terreno fue dado en arrendamiento y por el mismo se cobraría una renta de $5,000 mensuales a partir del mes de mayo.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El Arrendatario entregó la cantidad de $10,000 como depósito en garantía y se depositaron en la chequera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Se vendieron las 80,000 acciones del Fondo de Inversión en Instrumentos de Deuda en $1.03 cada una, y se depósito en la chequera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Se vendió un Centenario adquirido en marzo en $29,000 y se depositó en la chequera.</a:t>
            </a:r>
          </a:p>
        </p:txBody>
      </p:sp>
    </p:spTree>
    <p:extLst>
      <p:ext uri="{BB962C8B-B14F-4D97-AF65-F5344CB8AC3E}">
        <p14:creationId xmlns:p14="http://schemas.microsoft.com/office/powerpoint/2010/main" val="1150495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Abril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7912856"/>
              </p:ext>
            </p:extLst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Terrenos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Prima en colocación de acciones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Depósitos cobrados</a:t>
                      </a:r>
                      <a:r>
                        <a:rPr lang="es-MX" baseline="0" dirty="0"/>
                        <a:t> en garantía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Fondos</a:t>
                      </a:r>
                      <a:r>
                        <a:rPr lang="es-MX" baseline="0" dirty="0"/>
                        <a:t> de Inversión en Instrumentos de Deuda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82,400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Intereses ganados por Fondos de Inversión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Fondos de Inversión en Instrumentos</a:t>
                      </a:r>
                      <a:r>
                        <a:rPr lang="es-MX" baseline="0" dirty="0"/>
                        <a:t> de Deuda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82,400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2676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Abril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Centenarios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Ganancia</a:t>
                      </a:r>
                      <a:r>
                        <a:rPr lang="es-MX" baseline="0" dirty="0"/>
                        <a:t> en tenencia y venta de Centenarios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Centenarios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30 de 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Intereses</a:t>
                      </a:r>
                      <a:r>
                        <a:rPr lang="es-MX" baseline="0" dirty="0"/>
                        <a:t> cobrados por anticipado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Intereses ganados por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742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Abril de 2025 - Saldos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Bancos (Chequera</a:t>
                      </a:r>
                      <a:r>
                        <a:rPr lang="es-MX" baseline="0" dirty="0"/>
                        <a:t> MN)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937,400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4,300,000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Centenarios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29,000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Inversiones</a:t>
                      </a:r>
                      <a:r>
                        <a:rPr lang="es-MX" baseline="0" dirty="0"/>
                        <a:t> Temporales (Acciones)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5,000,000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Terrenos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MX" dirty="0"/>
                        <a:t>Depósitos</a:t>
                      </a:r>
                      <a:r>
                        <a:rPr lang="es-MX" baseline="0" dirty="0"/>
                        <a:t> cobrados en garantía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(10,700,000)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Prima en colocación de acciones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25423977"/>
              </p:ext>
            </p:extLst>
          </p:nvPr>
        </p:nvGraphicFramePr>
        <p:xfrm>
          <a:off x="6172200" y="1825625"/>
          <a:ext cx="5181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</a:t>
                      </a:r>
                      <a:r>
                        <a:rPr lang="es-MX" baseline="0" dirty="0"/>
                        <a:t> Fondos de Inv.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(2,400)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Ganancia en tenencia y</a:t>
                      </a:r>
                      <a:r>
                        <a:rPr lang="es-MX" baseline="0" dirty="0"/>
                        <a:t> venta de Cent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(4,000)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313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Mayo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Se vencieron los CETES adquiridos en febrero y por lo tanto se recibieron $4,300,000, mismos que fueron depositados en la cuenta de cheques. 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Se compraron 100,000 dólares americanos a un tipo de cambio de $13.00 por dólar y se tienen en una cuenta en México que no genera intereses.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Se cobró la renta de mayo por $5,000 y se depósito en Caja</a:t>
            </a:r>
          </a:p>
        </p:txBody>
      </p:sp>
    </p:spTree>
    <p:extLst>
      <p:ext uri="{BB962C8B-B14F-4D97-AF65-F5344CB8AC3E}">
        <p14:creationId xmlns:p14="http://schemas.microsoft.com/office/powerpoint/2010/main" val="2074267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Mayo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4,300,000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4,300,000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Bancos (Chequera</a:t>
                      </a:r>
                      <a:r>
                        <a:rPr lang="es-MX" baseline="0" dirty="0"/>
                        <a:t> en dólares en México)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Ingresos</a:t>
                      </a:r>
                      <a:r>
                        <a:rPr lang="es-MX" baseline="0" dirty="0"/>
                        <a:t> por arrendamiento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120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Mayo de 2025 - Saldos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Bancos (Chequera</a:t>
                      </a:r>
                      <a:r>
                        <a:rPr lang="es-MX" baseline="0" dirty="0"/>
                        <a:t> MN)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3,937,400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Banc</a:t>
                      </a:r>
                      <a:r>
                        <a:rPr lang="es-MX" baseline="0" dirty="0"/>
                        <a:t>os (Chequera </a:t>
                      </a:r>
                      <a:r>
                        <a:rPr lang="es-MX" baseline="0" dirty="0" err="1"/>
                        <a:t>Dlls</a:t>
                      </a:r>
                      <a:r>
                        <a:rPr lang="es-MX" baseline="0" dirty="0"/>
                        <a:t>. MEX)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Centenarios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29,000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Inversiones</a:t>
                      </a:r>
                      <a:r>
                        <a:rPr lang="es-MX" baseline="0" dirty="0"/>
                        <a:t> Temporales (Acciones)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5,000,000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Terrenos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MX" dirty="0"/>
                        <a:t>Depósitos</a:t>
                      </a:r>
                      <a:r>
                        <a:rPr lang="es-MX" baseline="0" dirty="0"/>
                        <a:t> cobrados en garantía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(10,700,000)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Prima en colocación de acciones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43470596"/>
              </p:ext>
            </p:extLst>
          </p:nvPr>
        </p:nvGraphicFramePr>
        <p:xfrm>
          <a:off x="6172200" y="1825625"/>
          <a:ext cx="5181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</a:t>
                      </a:r>
                      <a:r>
                        <a:rPr lang="es-MX" baseline="0" dirty="0"/>
                        <a:t> Fondos de Inv.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(2,400)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Ganancia en tenencia y</a:t>
                      </a:r>
                      <a:r>
                        <a:rPr lang="es-MX" baseline="0" dirty="0"/>
                        <a:t> venta de Cent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(4,000)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7131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Junio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No obstante que aún no se cuenta con productos para su venta, un Cliente decidió hacer un pedido por $50,000 y para ello pagó un anticipo de $25,000 que se depósito en caja y se le expidió el comprobante por el total de la operación; es decir, por los $50,000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Se cobró y depositó en caja la renta de junio, pero solamente por $3,000. La diferencia no la pagaron.</a:t>
            </a:r>
          </a:p>
        </p:txBody>
      </p:sp>
    </p:spTree>
    <p:extLst>
      <p:ext uri="{BB962C8B-B14F-4D97-AF65-F5344CB8AC3E}">
        <p14:creationId xmlns:p14="http://schemas.microsoft.com/office/powerpoint/2010/main" val="2124279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Junio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Anticipo de 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Deudores por rentas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685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Junio de 2025 - Saldos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Bancos (Chequera</a:t>
                      </a:r>
                      <a:r>
                        <a:rPr lang="es-MX" baseline="0" dirty="0"/>
                        <a:t> MN)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3,937,400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Banc</a:t>
                      </a:r>
                      <a:r>
                        <a:rPr lang="es-MX" baseline="0" dirty="0"/>
                        <a:t>os (Chequera </a:t>
                      </a:r>
                      <a:r>
                        <a:rPr lang="es-MX" baseline="0" dirty="0" err="1"/>
                        <a:t>Dlls</a:t>
                      </a:r>
                      <a:r>
                        <a:rPr lang="es-MX" baseline="0" dirty="0"/>
                        <a:t>. MEX)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Centenarios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29,000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Deudores</a:t>
                      </a:r>
                      <a:r>
                        <a:rPr lang="es-MX" baseline="0" dirty="0"/>
                        <a:t> por rentas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Inversiones</a:t>
                      </a:r>
                      <a:r>
                        <a:rPr lang="es-MX" baseline="0" dirty="0"/>
                        <a:t> Temporales (Acciones)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5,000,000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Terrenos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Depósitos</a:t>
                      </a:r>
                      <a:r>
                        <a:rPr lang="es-MX" baseline="0" dirty="0"/>
                        <a:t> cobrados en garantía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Anticipos de 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(10,700,000)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Prima en colocación de acciones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92992617"/>
              </p:ext>
            </p:extLst>
          </p:nvPr>
        </p:nvGraphicFramePr>
        <p:xfrm>
          <a:off x="6172200" y="1825625"/>
          <a:ext cx="5181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</a:t>
                      </a:r>
                      <a:r>
                        <a:rPr lang="es-MX" baseline="0" dirty="0"/>
                        <a:t> Fondos de Inv.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(2,400)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Ganancia en tenencia y</a:t>
                      </a:r>
                      <a:r>
                        <a:rPr lang="es-MX" baseline="0" dirty="0"/>
                        <a:t> venta de Cent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(4,000)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151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Julio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Se vendió un Centenario adquirido en marzo. El precio obtenido fue de $30,000 que se depositaron en la chequera.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Se cobró la renta de julio por $5,000 e igualmente se cobró el remanente de junio por $2,000, haciendo el depósito en Caja.</a:t>
            </a:r>
          </a:p>
        </p:txBody>
      </p:sp>
    </p:spTree>
    <p:extLst>
      <p:ext uri="{BB962C8B-B14F-4D97-AF65-F5344CB8AC3E}">
        <p14:creationId xmlns:p14="http://schemas.microsoft.com/office/powerpoint/2010/main" val="16461741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Julio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Centenarios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Ganancia en</a:t>
                      </a:r>
                      <a:r>
                        <a:rPr lang="es-MX" baseline="0" dirty="0"/>
                        <a:t> tenencia y venta de Centenarios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r"/>
                      <a:r>
                        <a:rPr lang="es-MX" dirty="0"/>
                        <a:t>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Centenarios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Deudores por rentas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6029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Julio de 2025 - Saldos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90,000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Bancos (Chequera</a:t>
                      </a:r>
                      <a:r>
                        <a:rPr lang="es-MX" baseline="0" dirty="0"/>
                        <a:t> MN)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3,967,400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Banc</a:t>
                      </a:r>
                      <a:r>
                        <a:rPr lang="es-MX" baseline="0" dirty="0"/>
                        <a:t>os (Chequera </a:t>
                      </a:r>
                      <a:r>
                        <a:rPr lang="es-MX" baseline="0" dirty="0" err="1"/>
                        <a:t>Dlls</a:t>
                      </a:r>
                      <a:r>
                        <a:rPr lang="es-MX" baseline="0" dirty="0"/>
                        <a:t>. MEX)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Inversiones</a:t>
                      </a:r>
                      <a:r>
                        <a:rPr lang="es-MX" baseline="0" dirty="0"/>
                        <a:t> Temporales (Acciones)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5,000,000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Terrenos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MX" dirty="0"/>
                        <a:t>Depósitos</a:t>
                      </a:r>
                      <a:r>
                        <a:rPr lang="es-MX" baseline="0" dirty="0"/>
                        <a:t> cobrados en garantía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Anticipos de 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(10,700,000)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Prima en colocación de acciones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15407840"/>
              </p:ext>
            </p:extLst>
          </p:nvPr>
        </p:nvGraphicFramePr>
        <p:xfrm>
          <a:off x="6172200" y="1825625"/>
          <a:ext cx="5181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</a:t>
                      </a:r>
                      <a:r>
                        <a:rPr lang="es-MX" baseline="0" dirty="0"/>
                        <a:t> Fondos de Inv.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(2,400)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Ganancia en tenencia y</a:t>
                      </a:r>
                      <a:r>
                        <a:rPr lang="es-MX" baseline="0" dirty="0"/>
                        <a:t> venta de Cent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7406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Agosto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El 14 de agosto se vendieron 30,000 dólares americanos a un tipo de cambio de $13.08 que se depositaron en la chequera.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Se cobró la renta de agosto por $5,000 y se depositó en Caja.</a:t>
            </a:r>
          </a:p>
        </p:txBody>
      </p:sp>
    </p:spTree>
    <p:extLst>
      <p:ext uri="{BB962C8B-B14F-4D97-AF65-F5344CB8AC3E}">
        <p14:creationId xmlns:p14="http://schemas.microsoft.com/office/powerpoint/2010/main" val="18911467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Agosto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14 de agosto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 (Chequera</a:t>
                      </a:r>
                      <a:r>
                        <a:rPr lang="es-MX" baseline="0" dirty="0"/>
                        <a:t> en dólares en México)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Utilidad en</a:t>
                      </a:r>
                      <a:r>
                        <a:rPr lang="es-MX" baseline="0" dirty="0"/>
                        <a:t> cambios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14 de agosto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 </a:t>
                      </a:r>
                      <a:r>
                        <a:rPr lang="es-MX" baseline="0" dirty="0"/>
                        <a:t>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392,400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en dólares en México)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392,400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Ingresos</a:t>
                      </a:r>
                      <a:r>
                        <a:rPr lang="es-MX" baseline="0" dirty="0"/>
                        <a:t> por arrendamiento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19996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Agosto de 2025 - Saldos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95,000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Bancos (Chequera</a:t>
                      </a:r>
                      <a:r>
                        <a:rPr lang="es-MX" baseline="0" dirty="0"/>
                        <a:t> MN)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4,359,800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Banc</a:t>
                      </a:r>
                      <a:r>
                        <a:rPr lang="es-MX" baseline="0" dirty="0"/>
                        <a:t>os (Chequera </a:t>
                      </a:r>
                      <a:r>
                        <a:rPr lang="es-MX" baseline="0" dirty="0" err="1"/>
                        <a:t>Dlls</a:t>
                      </a:r>
                      <a:r>
                        <a:rPr lang="es-MX" baseline="0" dirty="0"/>
                        <a:t>. MEX)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915,600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Inversiones</a:t>
                      </a:r>
                      <a:r>
                        <a:rPr lang="es-MX" baseline="0" dirty="0"/>
                        <a:t> Temporales (Acciones)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5,000,000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Terrenos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MX" dirty="0"/>
                        <a:t>Depósitos</a:t>
                      </a:r>
                      <a:r>
                        <a:rPr lang="es-MX" baseline="0" dirty="0"/>
                        <a:t> cobrados en garantía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Anticipos de 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(10,700,000)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Prima en colocación de acciones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7704482"/>
              </p:ext>
            </p:extLst>
          </p:nvPr>
        </p:nvGraphicFramePr>
        <p:xfrm>
          <a:off x="6172200" y="1825625"/>
          <a:ext cx="5181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</a:t>
                      </a:r>
                      <a:r>
                        <a:rPr lang="es-MX" baseline="0" dirty="0"/>
                        <a:t> Fondos de Inv.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(2,400)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Ganancia en tenencia y</a:t>
                      </a:r>
                      <a:r>
                        <a:rPr lang="es-MX" baseline="0" dirty="0"/>
                        <a:t> venta de Cent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Utilidad</a:t>
                      </a:r>
                      <a:r>
                        <a:rPr lang="es-MX" baseline="0" dirty="0"/>
                        <a:t> en Cambios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(8,000)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7870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Septiembre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Se compraron 10,000 acciones de una empresa residente en Estados Unidos y por esas acciones se pagó $1,000,000 en cheque.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Se compraron 5,000 acciones de una empresa residente en México y por esas acciones se pagó $500,000 en cheque.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El 1 de septiembre se traspasó de la chequera a una cuenta de cheques nueva en dólares americanos, en los Estados Unidos, el equivalente a 200,000 dólares a un tipo de cambio de $13.02 (se aplicó este tipo de cambio por un error bancario). Esta cuenta genera intereses al 0.03% mensual pero se pagan al cumplir 12 meses.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Se cobró la renta de septiembre por $5,000 e igualmente el Arrendatario decidió anticipar la renta de octubre, noviembre y diciembre, por lo que pagó $15,000 adicionales. El depósito se hizo en Caja.</a:t>
            </a:r>
          </a:p>
        </p:txBody>
      </p:sp>
    </p:spTree>
    <p:extLst>
      <p:ext uri="{BB962C8B-B14F-4D97-AF65-F5344CB8AC3E}">
        <p14:creationId xmlns:p14="http://schemas.microsoft.com/office/powerpoint/2010/main" val="3548637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Septiembre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Inversiones permanentes</a:t>
                      </a:r>
                      <a:r>
                        <a:rPr lang="es-MX" baseline="0" dirty="0"/>
                        <a:t> (Acciones USA)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Inversiones permanentes</a:t>
                      </a:r>
                      <a:r>
                        <a:rPr lang="es-MX" baseline="0" dirty="0"/>
                        <a:t> (Acciones MEX)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1 de sept.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Bancos (Chequera</a:t>
                      </a:r>
                      <a:r>
                        <a:rPr lang="es-MX" baseline="0" dirty="0"/>
                        <a:t> en dólares en USA)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2,604,000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2,604,000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7759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Septiembre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Rentas</a:t>
                      </a:r>
                      <a:r>
                        <a:rPr lang="es-MX" baseline="0" dirty="0"/>
                        <a:t> cobradas por anticipado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30 de sept.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Intereses</a:t>
                      </a:r>
                      <a:r>
                        <a:rPr lang="es-MX" baseline="0" dirty="0"/>
                        <a:t> por cobrar en moneda extranjera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Intereses</a:t>
                      </a:r>
                      <a:r>
                        <a:rPr lang="es-MX" baseline="0" dirty="0"/>
                        <a:t> ganados por Inversiones en moneda extranjera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3259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Septiembre de 2025 - Saldos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MX" sz="1400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115,000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MX" sz="1400" dirty="0"/>
                        <a:t>Bancos (Chequera</a:t>
                      </a:r>
                      <a:r>
                        <a:rPr lang="es-MX" sz="1400" baseline="0" dirty="0"/>
                        <a:t> MN)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255,800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MX" sz="1400" dirty="0"/>
                        <a:t>Banc</a:t>
                      </a:r>
                      <a:r>
                        <a:rPr lang="es-MX" sz="1400" baseline="0" dirty="0"/>
                        <a:t>os (Chequera </a:t>
                      </a:r>
                      <a:r>
                        <a:rPr lang="es-MX" sz="1400" baseline="0" dirty="0" err="1"/>
                        <a:t>Dlls</a:t>
                      </a:r>
                      <a:r>
                        <a:rPr lang="es-MX" sz="1400" baseline="0" dirty="0"/>
                        <a:t>. MEX)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915,600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MX" sz="1400" dirty="0"/>
                        <a:t>Bancos (Chequera</a:t>
                      </a:r>
                      <a:r>
                        <a:rPr lang="es-MX" sz="1400" baseline="0" dirty="0"/>
                        <a:t> </a:t>
                      </a:r>
                      <a:r>
                        <a:rPr lang="es-MX" sz="1400" baseline="0" dirty="0" err="1"/>
                        <a:t>Dlls</a:t>
                      </a:r>
                      <a:r>
                        <a:rPr lang="es-MX" sz="1400" baseline="0" dirty="0"/>
                        <a:t>. USA)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2,604,000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MX" sz="1400" dirty="0"/>
                        <a:t>Intereses por cobrar Moneda </a:t>
                      </a:r>
                      <a:r>
                        <a:rPr lang="es-MX" sz="1400" dirty="0" err="1"/>
                        <a:t>Extr</a:t>
                      </a:r>
                      <a:r>
                        <a:rPr lang="es-MX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781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Inversiones</a:t>
                      </a:r>
                      <a:r>
                        <a:rPr lang="es-MX" sz="1400" baseline="0" dirty="0"/>
                        <a:t> Temporales (Acciones)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5,000,000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Inversiones Permanentes (</a:t>
                      </a:r>
                      <a:r>
                        <a:rPr lang="es-MX" sz="1400" dirty="0" err="1"/>
                        <a:t>Acc</a:t>
                      </a:r>
                      <a:r>
                        <a:rPr lang="es-MX" sz="1400" dirty="0"/>
                        <a:t>.</a:t>
                      </a:r>
                      <a:r>
                        <a:rPr lang="es-MX" sz="1400" baseline="0" dirty="0"/>
                        <a:t> USA)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Inversiones Permanentes (</a:t>
                      </a:r>
                      <a:r>
                        <a:rPr lang="es-MX" sz="1400" dirty="0" err="1"/>
                        <a:t>Acc</a:t>
                      </a:r>
                      <a:r>
                        <a:rPr lang="es-MX" sz="1400" baseline="0" dirty="0"/>
                        <a:t> MEX)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500,000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MX" sz="1400" dirty="0"/>
                        <a:t>Terrenos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MX" sz="1400" dirty="0"/>
                        <a:t>Depósitos</a:t>
                      </a:r>
                      <a:r>
                        <a:rPr lang="es-MX" sz="1400" baseline="0" dirty="0"/>
                        <a:t> cobrados en garantía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(10,000)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Anticipos de 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(50,000)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Rentas Cobradas por Anticipado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(15,000)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MX" sz="1400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(10,700,000)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MX" sz="1400" dirty="0"/>
                        <a:t>Prima en colocación de acciones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400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61362175"/>
              </p:ext>
            </p:extLst>
          </p:nvPr>
        </p:nvGraphicFramePr>
        <p:xfrm>
          <a:off x="6172200" y="1825625"/>
          <a:ext cx="5181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</a:t>
                      </a:r>
                      <a:r>
                        <a:rPr lang="es-MX" baseline="0" dirty="0"/>
                        <a:t> Fondos de Inv.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(2,400)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Ganancia en tenencia y</a:t>
                      </a:r>
                      <a:r>
                        <a:rPr lang="es-MX" baseline="0" dirty="0"/>
                        <a:t> venta de Cent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Utilidad</a:t>
                      </a:r>
                      <a:r>
                        <a:rPr lang="es-MX" baseline="0" dirty="0"/>
                        <a:t> en Cambios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(8,000)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por Intereses (Ch.</a:t>
                      </a:r>
                      <a:r>
                        <a:rPr lang="es-MX" baseline="0" dirty="0"/>
                        <a:t> USA)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(781)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26864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Octubre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Por instrucciones del Director General, se hizo un préstamo de $20,000 en efectivo (Caja) a una persona física. El crédito es a la vista pero solamente el Director General será el encargado de cobrarlo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Igualmente, por instrucciones del Director General se hicieron gastos con la chequera, por cuenta de un conocido suyo por $7,500. Se obtuvieron los comprobantes a nombre del tercero por $7,000. Por los restantes $500 se obtuvo el comprobante a nombre propio, pero sin el IVA trasladado. El tercero reembolsó el total de $7,500 ese mismo día y se depositó en la chequera.</a:t>
            </a:r>
          </a:p>
        </p:txBody>
      </p:sp>
    </p:spTree>
    <p:extLst>
      <p:ext uri="{BB962C8B-B14F-4D97-AF65-F5344CB8AC3E}">
        <p14:creationId xmlns:p14="http://schemas.microsoft.com/office/powerpoint/2010/main" val="39011643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Octubre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Deudores diversos (personas físicas)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Deudores diversos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Deudores diversos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30 de octubre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Intereses</a:t>
                      </a:r>
                      <a:r>
                        <a:rPr lang="es-MX" baseline="0" dirty="0"/>
                        <a:t> por cobrar en moneda extranjera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Intereses</a:t>
                      </a:r>
                      <a:r>
                        <a:rPr lang="es-MX" baseline="0" dirty="0"/>
                        <a:t> ganados por inversiones en moneda extranjera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2819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Octubre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Rentas cobradas</a:t>
                      </a:r>
                      <a:r>
                        <a:rPr lang="es-MX" baseline="0" dirty="0"/>
                        <a:t> por anticipado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7173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Octubre de 2025 - Saldos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95,000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Bancos (Chequera</a:t>
                      </a:r>
                      <a:r>
                        <a:rPr lang="es-MX" sz="1200" baseline="0" dirty="0"/>
                        <a:t> MN)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255,800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Banc</a:t>
                      </a:r>
                      <a:r>
                        <a:rPr lang="es-MX" sz="1200" baseline="0" dirty="0"/>
                        <a:t>os (Chequera </a:t>
                      </a:r>
                      <a:r>
                        <a:rPr lang="es-MX" sz="1200" baseline="0" dirty="0" err="1"/>
                        <a:t>Dlls</a:t>
                      </a:r>
                      <a:r>
                        <a:rPr lang="es-MX" sz="1200" baseline="0" dirty="0"/>
                        <a:t>. MEX)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915,600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Bancos (Chequera</a:t>
                      </a:r>
                      <a:r>
                        <a:rPr lang="es-MX" sz="1200" baseline="0" dirty="0"/>
                        <a:t> </a:t>
                      </a:r>
                      <a:r>
                        <a:rPr lang="es-MX" sz="1200" baseline="0" dirty="0" err="1"/>
                        <a:t>Dlls</a:t>
                      </a:r>
                      <a:r>
                        <a:rPr lang="es-MX" sz="1200" baseline="0" dirty="0"/>
                        <a:t>. USA)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2,604,000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Intereses por cobrar Moneda </a:t>
                      </a:r>
                      <a:r>
                        <a:rPr lang="es-MX" sz="1200" dirty="0" err="1"/>
                        <a:t>Extr</a:t>
                      </a:r>
                      <a:r>
                        <a:rPr lang="es-MX" sz="12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1,562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Deudores Diversos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Inversiones</a:t>
                      </a:r>
                      <a:r>
                        <a:rPr lang="es-MX" sz="1200" baseline="0" dirty="0"/>
                        <a:t> Temporales (Acciones)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5,000,000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Inversiones Permanentes (</a:t>
                      </a:r>
                      <a:r>
                        <a:rPr lang="es-MX" sz="1200" dirty="0" err="1"/>
                        <a:t>Acc</a:t>
                      </a:r>
                      <a:r>
                        <a:rPr lang="es-MX" sz="1200" dirty="0"/>
                        <a:t>.</a:t>
                      </a:r>
                      <a:r>
                        <a:rPr lang="es-MX" sz="1200" baseline="0" dirty="0"/>
                        <a:t> USA)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Inversiones Permanentes (</a:t>
                      </a:r>
                      <a:r>
                        <a:rPr lang="es-MX" sz="1200" dirty="0" err="1"/>
                        <a:t>Acc</a:t>
                      </a:r>
                      <a:r>
                        <a:rPr lang="es-MX" sz="1200" baseline="0" dirty="0"/>
                        <a:t> MEX)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500,000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Terrenos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Depósitos</a:t>
                      </a:r>
                      <a:r>
                        <a:rPr lang="es-MX" sz="1200" baseline="0" dirty="0"/>
                        <a:t> cobrados en garantía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(10,000)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Anticipos de 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(50,000)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Rentas Cobradas por Anticipado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(10,000)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(10,700,000)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Prima en colocación de acciones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54888049"/>
              </p:ext>
            </p:extLst>
          </p:nvPr>
        </p:nvGraphicFramePr>
        <p:xfrm>
          <a:off x="6172200" y="1825625"/>
          <a:ext cx="5181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</a:t>
                      </a:r>
                      <a:r>
                        <a:rPr lang="es-MX" baseline="0" dirty="0"/>
                        <a:t> Fondos de Inv.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(2,400)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Ganancia en tenencia y</a:t>
                      </a:r>
                      <a:r>
                        <a:rPr lang="es-MX" baseline="0" dirty="0"/>
                        <a:t> venta de Cent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Utilidad</a:t>
                      </a:r>
                      <a:r>
                        <a:rPr lang="es-MX" baseline="0" dirty="0"/>
                        <a:t> en Cambios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(8,000)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por Intereses (Ch.</a:t>
                      </a:r>
                      <a:r>
                        <a:rPr lang="es-MX" baseline="0" dirty="0"/>
                        <a:t> USA)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(1,562)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1391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Noviembre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Se cobraron $10,000 de dividendos provenientes de las acciones de la sociedad residente en los Estados Unidos y se depositaron en la chequera.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Se cobraron $5,000 por concepto de dividendos provenientes de las acciones de la sociedad residente en México y se depositaron en Caja.</a:t>
            </a:r>
          </a:p>
        </p:txBody>
      </p:sp>
    </p:spTree>
    <p:extLst>
      <p:ext uri="{BB962C8B-B14F-4D97-AF65-F5344CB8AC3E}">
        <p14:creationId xmlns:p14="http://schemas.microsoft.com/office/powerpoint/2010/main" val="4794834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Noviembre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</a:t>
                      </a:r>
                      <a:r>
                        <a:rPr lang="es-MX" baseline="0" dirty="0"/>
                        <a:t> (Chequera Moneda Nacional)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Dividendos</a:t>
                      </a:r>
                      <a:r>
                        <a:rPr lang="es-MX" baseline="0" dirty="0"/>
                        <a:t> ganados de sociedades no residentes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Dividendos ganados de sociedades</a:t>
                      </a:r>
                      <a:r>
                        <a:rPr lang="es-MX" baseline="0" dirty="0"/>
                        <a:t> residentes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30 de nov.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Intereses</a:t>
                      </a:r>
                      <a:r>
                        <a:rPr lang="es-MX" baseline="0" dirty="0"/>
                        <a:t> por cobrar en moneda extranjera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Intereses</a:t>
                      </a:r>
                      <a:r>
                        <a:rPr lang="es-MX" baseline="0" dirty="0"/>
                        <a:t> ganados por inversiones en moneda extranjera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Rentas cobradas</a:t>
                      </a:r>
                      <a:r>
                        <a:rPr lang="es-MX" baseline="0" dirty="0"/>
                        <a:t> por anticipado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9777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Noviembre de 2025 - Saldos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Bancos (Chequera</a:t>
                      </a:r>
                      <a:r>
                        <a:rPr lang="es-MX" sz="1200" baseline="0" dirty="0"/>
                        <a:t> MN)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265,800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Banc</a:t>
                      </a:r>
                      <a:r>
                        <a:rPr lang="es-MX" sz="1200" baseline="0" dirty="0"/>
                        <a:t>os (Chequera </a:t>
                      </a:r>
                      <a:r>
                        <a:rPr lang="es-MX" sz="1200" baseline="0" dirty="0" err="1"/>
                        <a:t>Dlls</a:t>
                      </a:r>
                      <a:r>
                        <a:rPr lang="es-MX" sz="1200" baseline="0" dirty="0"/>
                        <a:t>. MEX)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915,600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Bancos (Chequera</a:t>
                      </a:r>
                      <a:r>
                        <a:rPr lang="es-MX" sz="1200" baseline="0" dirty="0"/>
                        <a:t> </a:t>
                      </a:r>
                      <a:r>
                        <a:rPr lang="es-MX" sz="1200" baseline="0" dirty="0" err="1"/>
                        <a:t>Dlls</a:t>
                      </a:r>
                      <a:r>
                        <a:rPr lang="es-MX" sz="1200" baseline="0" dirty="0"/>
                        <a:t>. USA)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2,604,000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Intereses por cobrar Moneda </a:t>
                      </a:r>
                      <a:r>
                        <a:rPr lang="es-MX" sz="1200" dirty="0" err="1"/>
                        <a:t>Extr</a:t>
                      </a:r>
                      <a:r>
                        <a:rPr lang="es-MX" sz="12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2,343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Deudores Diversos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Inversiones</a:t>
                      </a:r>
                      <a:r>
                        <a:rPr lang="es-MX" sz="1200" baseline="0" dirty="0"/>
                        <a:t> Temporales (Acciones)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5,000,000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Inversiones Permanentes (</a:t>
                      </a:r>
                      <a:r>
                        <a:rPr lang="es-MX" sz="1200" dirty="0" err="1"/>
                        <a:t>Acc</a:t>
                      </a:r>
                      <a:r>
                        <a:rPr lang="es-MX" sz="1200" dirty="0"/>
                        <a:t>.</a:t>
                      </a:r>
                      <a:r>
                        <a:rPr lang="es-MX" sz="1200" baseline="0" dirty="0"/>
                        <a:t> USA)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Inversiones Permanentes (</a:t>
                      </a:r>
                      <a:r>
                        <a:rPr lang="es-MX" sz="1200" dirty="0" err="1"/>
                        <a:t>Acc</a:t>
                      </a:r>
                      <a:r>
                        <a:rPr lang="es-MX" sz="1200" baseline="0" dirty="0"/>
                        <a:t> MEX)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500,000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Terrenos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Depósitos</a:t>
                      </a:r>
                      <a:r>
                        <a:rPr lang="es-MX" sz="1200" baseline="0" dirty="0"/>
                        <a:t> cobrados en garantía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(10,000)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Anticipos de 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(50,000)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Rentas Cobradas por Anticipado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(10,700,000)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Prima en colocación de acciones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97523930"/>
              </p:ext>
            </p:extLst>
          </p:nvPr>
        </p:nvGraphicFramePr>
        <p:xfrm>
          <a:off x="6172200" y="1825625"/>
          <a:ext cx="5181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</a:t>
                      </a:r>
                      <a:r>
                        <a:rPr lang="es-MX" baseline="0" dirty="0"/>
                        <a:t> Fondos de Inv.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(2,400)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Ganancia en tenencia y</a:t>
                      </a:r>
                      <a:r>
                        <a:rPr lang="es-MX" baseline="0" dirty="0"/>
                        <a:t> venta de Cent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Utilidad</a:t>
                      </a:r>
                      <a:r>
                        <a:rPr lang="es-MX" baseline="0" dirty="0"/>
                        <a:t> en Cambios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(8,000)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por Intereses (Ch.</a:t>
                      </a:r>
                      <a:r>
                        <a:rPr lang="es-MX" baseline="0" dirty="0"/>
                        <a:t> USA)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(2,343)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Dividendos de Sociedades</a:t>
                      </a:r>
                      <a:r>
                        <a:rPr lang="es-MX" baseline="0" dirty="0"/>
                        <a:t> No Res.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Dividendos de Sociedades</a:t>
                      </a:r>
                      <a:r>
                        <a:rPr lang="es-MX" baseline="0" dirty="0"/>
                        <a:t> Res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4144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Diciembre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De común acuerdo, con fecha 31 de diciembre, el Arrendador y el Arrendatario del terreno (arrendado en abril) dieron por terminado el contrato y por lo tanto, las construcciones hechas por el Arrendatario con un valor de avalúo a la fecha de terminación del contrato por $180,000, pasaron a ser propiedad del Arrendador.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Se devolvió al Arrendatario la cantidad de $5,000 (Caja) del depósito en garantía y los otros $5,000 quedaron en beneficio del Arrendador para cubrir gastos de reparación al bien arrendado.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El valor de mercado de las acciones de la sociedad residente en Estados Unidos es de $1,050,000 al 31 de diciembre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El valor de mercado de las acciones de la sociedad residente en México es de $510,000 al 31 de diciembre.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El valor de las acciones cotizadas en la BMV al 31 de diciembre es de $5,400,000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31252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Diciembre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31 de dic.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Intereses</a:t>
                      </a:r>
                      <a:r>
                        <a:rPr lang="es-MX" baseline="0" dirty="0"/>
                        <a:t> por cobrar en moneda extranjera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Intereses</a:t>
                      </a:r>
                      <a:r>
                        <a:rPr lang="es-MX" baseline="0" dirty="0"/>
                        <a:t> ganados por inversiones en moneda extranjera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31 de dic.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 (Chequera</a:t>
                      </a:r>
                      <a:r>
                        <a:rPr lang="es-MX" baseline="0" dirty="0"/>
                        <a:t> en dólares en México)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Bancos (Chequera</a:t>
                      </a:r>
                      <a:r>
                        <a:rPr lang="es-MX" baseline="0" dirty="0"/>
                        <a:t> en dólares en USA)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Intereses</a:t>
                      </a:r>
                      <a:r>
                        <a:rPr lang="es-MX" baseline="0" dirty="0"/>
                        <a:t> por cobrar en moneda extranjera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Utilidad en cambios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55,254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2097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Diciembre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31 de dic.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Construcciones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Ingresos</a:t>
                      </a:r>
                      <a:r>
                        <a:rPr lang="es-MX" baseline="0" dirty="0"/>
                        <a:t> por terminación de contrato de arrendamiento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180,000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31 de dic.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Depósitos cobrados en garantía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Rentas cobradas por anticipado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1312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Diciembre de 2025 - Saldos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95,000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Bancos (Chequera</a:t>
                      </a:r>
                      <a:r>
                        <a:rPr lang="es-MX" sz="1200" baseline="0" dirty="0"/>
                        <a:t> MN)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265,800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Banc</a:t>
                      </a:r>
                      <a:r>
                        <a:rPr lang="es-MX" sz="1200" baseline="0" dirty="0"/>
                        <a:t>os (Chequera </a:t>
                      </a:r>
                      <a:r>
                        <a:rPr lang="es-MX" sz="1200" baseline="0" dirty="0" err="1"/>
                        <a:t>Dlls</a:t>
                      </a:r>
                      <a:r>
                        <a:rPr lang="es-MX" sz="1200" baseline="0" dirty="0"/>
                        <a:t>. MEX)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926,800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Bancos (Chequera</a:t>
                      </a:r>
                      <a:r>
                        <a:rPr lang="es-MX" sz="1200" baseline="0" dirty="0"/>
                        <a:t> </a:t>
                      </a:r>
                      <a:r>
                        <a:rPr lang="es-MX" sz="1200" baseline="0" dirty="0" err="1"/>
                        <a:t>Dlls</a:t>
                      </a:r>
                      <a:r>
                        <a:rPr lang="es-MX" sz="1200" baseline="0" dirty="0"/>
                        <a:t>. USA)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2,648,000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Intereses por cobrar Moneda </a:t>
                      </a:r>
                      <a:r>
                        <a:rPr lang="es-MX" sz="1200" dirty="0" err="1"/>
                        <a:t>Extr</a:t>
                      </a:r>
                      <a:r>
                        <a:rPr lang="es-MX" sz="12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3,178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Deudores Diversos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Inversiones</a:t>
                      </a:r>
                      <a:r>
                        <a:rPr lang="es-MX" sz="1200" baseline="0" dirty="0"/>
                        <a:t> Temporales (Acciones)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5,000,000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Inversiones Permanentes (</a:t>
                      </a:r>
                      <a:r>
                        <a:rPr lang="es-MX" sz="1200" dirty="0" err="1"/>
                        <a:t>Acc</a:t>
                      </a:r>
                      <a:r>
                        <a:rPr lang="es-MX" sz="1200" dirty="0"/>
                        <a:t>.</a:t>
                      </a:r>
                      <a:r>
                        <a:rPr lang="es-MX" sz="1200" baseline="0" dirty="0"/>
                        <a:t> USA)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Inversiones Permanentes (</a:t>
                      </a:r>
                      <a:r>
                        <a:rPr lang="es-MX" sz="1200" dirty="0" err="1"/>
                        <a:t>Acc</a:t>
                      </a:r>
                      <a:r>
                        <a:rPr lang="es-MX" sz="1200" baseline="0" dirty="0"/>
                        <a:t> MEX)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500,000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Terrenos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Construcciones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180,000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dirty="0"/>
                        <a:t>Anticipos de 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(50,000)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(10,700,000)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s-MX" sz="1200" dirty="0"/>
                        <a:t>Prima en colocación de acciones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200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9129348"/>
              </p:ext>
            </p:extLst>
          </p:nvPr>
        </p:nvGraphicFramePr>
        <p:xfrm>
          <a:off x="6172200" y="1825625"/>
          <a:ext cx="5181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</a:t>
                      </a:r>
                      <a:r>
                        <a:rPr lang="es-MX" baseline="0" dirty="0"/>
                        <a:t> Fondos de Inv.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(2,400)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Ganancia en tenencia y</a:t>
                      </a:r>
                      <a:r>
                        <a:rPr lang="es-MX" baseline="0" dirty="0"/>
                        <a:t> venta de Cent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por arrendamiento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(45,000)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Utilidad</a:t>
                      </a:r>
                      <a:r>
                        <a:rPr lang="es-MX" baseline="0" dirty="0"/>
                        <a:t> en Cambios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(63,254)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por Intereses (Ch.</a:t>
                      </a:r>
                      <a:r>
                        <a:rPr lang="es-MX" baseline="0" dirty="0"/>
                        <a:t> USA)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(3,124)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Dividendos de Sociedades</a:t>
                      </a:r>
                      <a:r>
                        <a:rPr lang="es-MX" baseline="0" dirty="0"/>
                        <a:t> No Res.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Dividendos de Sociedades</a:t>
                      </a:r>
                      <a:r>
                        <a:rPr lang="es-MX" baseline="0" dirty="0"/>
                        <a:t> Res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por</a:t>
                      </a:r>
                      <a:r>
                        <a:rPr lang="es-MX" baseline="0" dirty="0"/>
                        <a:t> terminación de contrato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(180,000)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2971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Resultados al 31 de diciembre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1750000"/>
              </p:ext>
            </p:extLst>
          </p:nvPr>
        </p:nvGraphicFramePr>
        <p:xfrm>
          <a:off x="838200" y="1825625"/>
          <a:ext cx="105156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5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9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por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por Fondos</a:t>
                      </a:r>
                      <a:r>
                        <a:rPr lang="es-MX" baseline="0" dirty="0"/>
                        <a:t> de Inversión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</a:t>
                      </a:r>
                      <a:r>
                        <a:rPr lang="es-MX" baseline="0" dirty="0"/>
                        <a:t> por Arrendamiento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Utilidad en Cambios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63,254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Dividendos</a:t>
                      </a:r>
                      <a:r>
                        <a:rPr lang="es-MX" baseline="0" dirty="0"/>
                        <a:t> de Sociedades No Residentes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Dividendos de Sociedades</a:t>
                      </a:r>
                      <a:r>
                        <a:rPr lang="es-MX" baseline="0" dirty="0"/>
                        <a:t> Residentes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</a:t>
                      </a:r>
                      <a:r>
                        <a:rPr lang="es-MX" baseline="0" dirty="0"/>
                        <a:t> por terminación de contrato de arrendamiento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180,000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Ganancia en Tenencia y Venta de</a:t>
                      </a:r>
                      <a:r>
                        <a:rPr lang="es-MX" baseline="0" dirty="0"/>
                        <a:t> Centenarios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</a:t>
                      </a:r>
                      <a:r>
                        <a:rPr lang="es-MX" baseline="0" dirty="0"/>
                        <a:t> por intereses en moneda extranjera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3,124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Utilidad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$613,778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0801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Activos, Pasivos y Capital al 31 de diciembre de 2025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4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3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4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 gridSpan="2"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Activos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Pasivos y Capital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b="0" dirty="0">
                          <a:solidFill>
                            <a:schemeClr val="tx1"/>
                          </a:solidFill>
                        </a:rPr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0" dirty="0">
                          <a:solidFill>
                            <a:schemeClr val="tx1"/>
                          </a:solidFill>
                        </a:rPr>
                        <a:t>$95,000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b="0" dirty="0">
                          <a:solidFill>
                            <a:schemeClr val="tx1"/>
                          </a:solidFill>
                        </a:rPr>
                        <a:t>Anticipos</a:t>
                      </a:r>
                      <a:r>
                        <a:rPr lang="es-MX" sz="1600" b="0" baseline="0" dirty="0">
                          <a:solidFill>
                            <a:schemeClr val="tx1"/>
                          </a:solidFill>
                        </a:rPr>
                        <a:t> de Clientes</a:t>
                      </a:r>
                      <a:endParaRPr lang="es-MX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0" dirty="0">
                          <a:solidFill>
                            <a:schemeClr val="tx1"/>
                          </a:solidFill>
                        </a:rPr>
                        <a:t>$50,000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b="0" dirty="0">
                          <a:solidFill>
                            <a:schemeClr val="tx1"/>
                          </a:solidFill>
                        </a:rPr>
                        <a:t>Bancos (Chequera MN)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0" dirty="0">
                          <a:solidFill>
                            <a:schemeClr val="tx1"/>
                          </a:solidFill>
                        </a:rPr>
                        <a:t>265,800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Bancos (Dólares</a:t>
                      </a:r>
                      <a:r>
                        <a:rPr lang="es-MX" sz="1600" baseline="0" dirty="0"/>
                        <a:t> en MEX)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926,800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Bancos (Dólares</a:t>
                      </a:r>
                      <a:r>
                        <a:rPr lang="es-MX" sz="1600" baseline="0" dirty="0"/>
                        <a:t> en USA)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2,648,000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Capital</a:t>
                      </a:r>
                      <a:r>
                        <a:rPr lang="es-MX" sz="1600" baseline="0" dirty="0"/>
                        <a:t> Social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10,700,000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Intereses por cobrar</a:t>
                      </a:r>
                      <a:r>
                        <a:rPr lang="es-MX" sz="1600" baseline="0" dirty="0"/>
                        <a:t> (Dls.)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3,178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Prima en Colocación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Deudores diversos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Inversiones</a:t>
                      </a:r>
                      <a:r>
                        <a:rPr lang="es-MX" sz="1600" baseline="0" dirty="0"/>
                        <a:t> temporales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Resultado</a:t>
                      </a:r>
                      <a:r>
                        <a:rPr lang="es-MX" sz="1600" baseline="0" dirty="0"/>
                        <a:t> del Ejercicio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613,778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Inversiones p</a:t>
                      </a:r>
                      <a:r>
                        <a:rPr lang="es-MX" sz="1600" baseline="0" dirty="0"/>
                        <a:t>ermanentes MEX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Inversiones</a:t>
                      </a:r>
                      <a:r>
                        <a:rPr lang="es-MX" sz="1600" baseline="0" dirty="0"/>
                        <a:t> p</a:t>
                      </a:r>
                      <a:r>
                        <a:rPr lang="es-MX" sz="1600" dirty="0"/>
                        <a:t>ermanentes 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Terrenos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Construcciones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Total Activos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/>
                        <a:t>$11,663,778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Total Pasivos y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$11,663,778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1006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Preparando la Conciliación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/>
              <a:t>¿Existen partidas en el Balance General que fiscalmente correspondan a Resultados?</a:t>
            </a:r>
          </a:p>
          <a:p>
            <a:r>
              <a:rPr lang="es-MX" dirty="0"/>
              <a:t>¿Existen partidas en el Estado de Resultados que fiscalmente deban ser valuadas de manera distinta?</a:t>
            </a:r>
          </a:p>
          <a:p>
            <a:r>
              <a:rPr lang="es-MX" dirty="0"/>
              <a:t>¿Existen partidas en el Estado de Resultados que fiscalmente no sean acumulables o deducibles?</a:t>
            </a:r>
          </a:p>
          <a:p>
            <a:r>
              <a:rPr lang="es-MX" dirty="0"/>
              <a:t>¿Existieron transacciones con efecto “cero” en la contabilidad cuyos efectos fiscales son distintos?</a:t>
            </a:r>
          </a:p>
          <a:p>
            <a:r>
              <a:rPr lang="es-MX" dirty="0"/>
              <a:t>¿Cuál es el Ajuste Anual por Inflación?</a:t>
            </a:r>
          </a:p>
          <a:p>
            <a:r>
              <a:rPr lang="es-MX" dirty="0"/>
              <a:t>¿Existen partidas de Ejercicios Anteriores con efectos en este Ejercicio?</a:t>
            </a:r>
          </a:p>
          <a:p>
            <a:r>
              <a:rPr lang="es-MX" dirty="0"/>
              <a:t>¿Existen Pérdidas de Ejercicios Anteriores?</a:t>
            </a:r>
          </a:p>
          <a:p>
            <a:pPr marL="0" indent="0">
              <a:buNone/>
            </a:pP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665384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¿Existen partidas en el Balance General que fiscalmente correspondan a Resultados?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729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4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3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4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837">
                <a:tc gridSpan="2"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Activos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Pasivos y Capital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837">
                <a:tc>
                  <a:txBody>
                    <a:bodyPr/>
                    <a:lstStyle/>
                    <a:p>
                      <a:r>
                        <a:rPr lang="es-MX" sz="1600" b="0" dirty="0">
                          <a:solidFill>
                            <a:schemeClr val="tx1"/>
                          </a:solidFill>
                        </a:rPr>
                        <a:t>Caja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0" dirty="0">
                          <a:solidFill>
                            <a:schemeClr val="tx1"/>
                          </a:solidFill>
                        </a:rPr>
                        <a:t>$95,000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b="0" dirty="0">
                          <a:solidFill>
                            <a:schemeClr val="tx1"/>
                          </a:solidFill>
                        </a:rPr>
                        <a:t>Anticipos</a:t>
                      </a:r>
                      <a:r>
                        <a:rPr lang="es-MX" sz="1600" b="0" baseline="0" dirty="0">
                          <a:solidFill>
                            <a:schemeClr val="tx1"/>
                          </a:solidFill>
                        </a:rPr>
                        <a:t> de Clientes</a:t>
                      </a:r>
                      <a:endParaRPr lang="es-MX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0" dirty="0">
                          <a:solidFill>
                            <a:schemeClr val="accent6"/>
                          </a:solidFill>
                        </a:rPr>
                        <a:t>$50,000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837">
                <a:tc>
                  <a:txBody>
                    <a:bodyPr/>
                    <a:lstStyle/>
                    <a:p>
                      <a:r>
                        <a:rPr lang="es-MX" sz="1600" b="0" dirty="0">
                          <a:solidFill>
                            <a:schemeClr val="tx1"/>
                          </a:solidFill>
                        </a:rPr>
                        <a:t>Bancos (Moneda Nacional)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0" dirty="0">
                          <a:solidFill>
                            <a:schemeClr val="tx1"/>
                          </a:solidFill>
                        </a:rPr>
                        <a:t>265,800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b="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837">
                <a:tc>
                  <a:txBody>
                    <a:bodyPr/>
                    <a:lstStyle/>
                    <a:p>
                      <a:r>
                        <a:rPr lang="es-MX" sz="1600" dirty="0"/>
                        <a:t>Bancos (Dólares</a:t>
                      </a:r>
                      <a:r>
                        <a:rPr lang="es-MX" sz="1600" baseline="0" dirty="0"/>
                        <a:t> en MEX)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926,800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837">
                <a:tc>
                  <a:txBody>
                    <a:bodyPr/>
                    <a:lstStyle/>
                    <a:p>
                      <a:r>
                        <a:rPr lang="es-MX" sz="1600" dirty="0"/>
                        <a:t>Bancos (Dólares</a:t>
                      </a:r>
                      <a:r>
                        <a:rPr lang="es-MX" sz="1600" baseline="0" dirty="0"/>
                        <a:t> en USA)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2,648,000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837">
                <a:tc>
                  <a:txBody>
                    <a:bodyPr/>
                    <a:lstStyle/>
                    <a:p>
                      <a:r>
                        <a:rPr lang="es-MX" sz="1600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Capital</a:t>
                      </a:r>
                      <a:r>
                        <a:rPr lang="es-MX" sz="1600" baseline="0" dirty="0"/>
                        <a:t> Social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10,700,000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837">
                <a:tc>
                  <a:txBody>
                    <a:bodyPr/>
                    <a:lstStyle/>
                    <a:p>
                      <a:r>
                        <a:rPr lang="es-MX" sz="1600" dirty="0"/>
                        <a:t>Intereses por cobrar</a:t>
                      </a:r>
                      <a:r>
                        <a:rPr lang="es-MX" sz="1600" baseline="0" dirty="0"/>
                        <a:t> (Dls.)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3,178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Prima en Colocación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300,000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837">
                <a:tc>
                  <a:txBody>
                    <a:bodyPr/>
                    <a:lstStyle/>
                    <a:p>
                      <a:r>
                        <a:rPr lang="es-MX" sz="1600" dirty="0"/>
                        <a:t>Deudores diversos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Resultado</a:t>
                      </a:r>
                      <a:r>
                        <a:rPr lang="es-MX" sz="1600" baseline="0" dirty="0"/>
                        <a:t> del Ejercicio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613,778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837">
                <a:tc>
                  <a:txBody>
                    <a:bodyPr/>
                    <a:lstStyle/>
                    <a:p>
                      <a:r>
                        <a:rPr lang="es-MX" sz="1600" dirty="0"/>
                        <a:t>Inversiones</a:t>
                      </a:r>
                      <a:r>
                        <a:rPr lang="es-MX" sz="1600" baseline="0" dirty="0"/>
                        <a:t> temporales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837">
                <a:tc>
                  <a:txBody>
                    <a:bodyPr/>
                    <a:lstStyle/>
                    <a:p>
                      <a:r>
                        <a:rPr lang="es-MX" sz="1600" dirty="0"/>
                        <a:t>Inversiones p</a:t>
                      </a:r>
                      <a:r>
                        <a:rPr lang="es-MX" sz="1600" baseline="0" dirty="0"/>
                        <a:t>ermanentes MEX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837">
                <a:tc>
                  <a:txBody>
                    <a:bodyPr/>
                    <a:lstStyle/>
                    <a:p>
                      <a:r>
                        <a:rPr lang="es-MX" sz="1600" dirty="0"/>
                        <a:t>Inversiones</a:t>
                      </a:r>
                      <a:r>
                        <a:rPr lang="es-MX" sz="1600" baseline="0" dirty="0"/>
                        <a:t> p</a:t>
                      </a:r>
                      <a:r>
                        <a:rPr lang="es-MX" sz="1600" dirty="0"/>
                        <a:t>ermanentes 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7837">
                <a:tc>
                  <a:txBody>
                    <a:bodyPr/>
                    <a:lstStyle/>
                    <a:p>
                      <a:r>
                        <a:rPr lang="es-MX" sz="1600" dirty="0"/>
                        <a:t>Terrenos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7837">
                <a:tc>
                  <a:txBody>
                    <a:bodyPr/>
                    <a:lstStyle/>
                    <a:p>
                      <a:r>
                        <a:rPr lang="es-MX" sz="1600" dirty="0"/>
                        <a:t>Construcciones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7837"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Total Activos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/>
                        <a:t>$11,663,778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Total Pasivos y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$11,663,778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9732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¿Existen partidas en el Estado de Resultados que fiscalmente deban ser valuadas de manera distinta?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5685704"/>
              </p:ext>
            </p:extLst>
          </p:nvPr>
        </p:nvGraphicFramePr>
        <p:xfrm>
          <a:off x="838200" y="1825625"/>
          <a:ext cx="10515599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3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Comentarios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por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por Fondos</a:t>
                      </a:r>
                      <a:r>
                        <a:rPr lang="es-MX" baseline="0" dirty="0"/>
                        <a:t> de Inversión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</a:t>
                      </a:r>
                      <a:r>
                        <a:rPr lang="es-MX" baseline="0" dirty="0"/>
                        <a:t> por Arrendamiento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Utilidad en Cambios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63,254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Tipo de Cambio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Dividendos</a:t>
                      </a:r>
                      <a:r>
                        <a:rPr lang="es-MX" baseline="0" dirty="0"/>
                        <a:t> de Sociedades No Residentes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Dividendos de Sociedades</a:t>
                      </a:r>
                      <a:r>
                        <a:rPr lang="es-MX" baseline="0" dirty="0"/>
                        <a:t> Residentes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MX" dirty="0"/>
                        <a:t>Ingresos</a:t>
                      </a:r>
                      <a:r>
                        <a:rPr lang="es-MX" baseline="0" dirty="0"/>
                        <a:t> por terminación de contrato de arrendamiento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Ganancia en Tenencia y Venta de</a:t>
                      </a:r>
                      <a:r>
                        <a:rPr lang="es-MX" baseline="0" dirty="0"/>
                        <a:t> Centenarios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Ajuste</a:t>
                      </a:r>
                      <a:r>
                        <a:rPr lang="es-MX" baseline="0" dirty="0"/>
                        <a:t> al Costo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</a:t>
                      </a:r>
                      <a:r>
                        <a:rPr lang="es-MX" baseline="0" dirty="0"/>
                        <a:t> por intereses en moneda extranjera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3,124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Utilidad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$613,778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0083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Utilidad en Cambios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4574910"/>
              </p:ext>
            </p:extLst>
          </p:nvPr>
        </p:nvGraphicFramePr>
        <p:xfrm>
          <a:off x="838200" y="1825625"/>
          <a:ext cx="10515600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8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3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7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15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44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Bancos (Chequera</a:t>
                      </a:r>
                      <a:r>
                        <a:rPr lang="es-MX" baseline="0" dirty="0"/>
                        <a:t> en MEX)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Bancos (Chequera en USA)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Intereses por cobrar</a:t>
                      </a:r>
                      <a:r>
                        <a:rPr lang="es-MX" baseline="0" dirty="0"/>
                        <a:t> en ME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Suman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Saldos en Moneda Extranjera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270,240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Tipo de Cambio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13.0652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13.0652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13.0652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13.0652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Saldo en Moneda</a:t>
                      </a:r>
                      <a:r>
                        <a:rPr lang="es-MX" baseline="0" dirty="0"/>
                        <a:t> Nacional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$914,564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$2,613,040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$3,136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$3,530,740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Saldo según</a:t>
                      </a:r>
                      <a:r>
                        <a:rPr lang="es-MX" baseline="0" dirty="0"/>
                        <a:t> contabilidad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926,800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2,648,000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3,178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3,577,978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MX" dirty="0"/>
                        <a:t>(Utilidad)</a:t>
                      </a:r>
                      <a:r>
                        <a:rPr lang="es-MX" baseline="0" dirty="0"/>
                        <a:t> Pérdida en cambios no realizada fiscalmente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  <a:p>
                      <a:pPr algn="r"/>
                      <a:r>
                        <a:rPr lang="es-MX" dirty="0"/>
                        <a:t>$(12,236)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  <a:p>
                      <a:pPr algn="r"/>
                      <a:r>
                        <a:rPr lang="es-MX" dirty="0"/>
                        <a:t>$(34,960)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  <a:p>
                      <a:pPr algn="r"/>
                      <a:r>
                        <a:rPr lang="es-MX" dirty="0"/>
                        <a:t>$(42)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  <a:p>
                      <a:pPr algn="r"/>
                      <a:r>
                        <a:rPr lang="es-MX" dirty="0"/>
                        <a:t>$(47,238)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0617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Ganancia en Tenencia y Venta de Centenarios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877680"/>
              </p:ext>
            </p:extLst>
          </p:nvPr>
        </p:nvGraphicFramePr>
        <p:xfrm>
          <a:off x="838200" y="1825625"/>
          <a:ext cx="10515600" cy="395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6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8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Enajenación</a:t>
                      </a:r>
                      <a:r>
                        <a:rPr lang="es-MX" baseline="0" dirty="0"/>
                        <a:t> en </a:t>
                      </a:r>
                      <a:r>
                        <a:rPr lang="es-MX" dirty="0"/>
                        <a:t>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Enajenación</a:t>
                      </a:r>
                      <a:r>
                        <a:rPr lang="es-MX" baseline="0" dirty="0"/>
                        <a:t> en </a:t>
                      </a:r>
                      <a:r>
                        <a:rPr lang="es-MX" dirty="0"/>
                        <a:t>Julio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Suman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Valor de Adquisición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$27,000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$27,000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$54,000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s-MX" dirty="0"/>
                        <a:t>INPC del mes más reciente (mes anterior a la fecha de enajenación)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s-MX" dirty="0"/>
                        <a:t>INPC</a:t>
                      </a:r>
                      <a:r>
                        <a:rPr lang="es-MX" baseline="0" dirty="0"/>
                        <a:t> del mes más antiguo (mes de adquisición)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Factor de Actualización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MX" dirty="0"/>
                        <a:t>Valor de Adquisición</a:t>
                      </a:r>
                      <a:r>
                        <a:rPr lang="es-MX" baseline="0" dirty="0"/>
                        <a:t> Actualizado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Ajuste al Valor</a:t>
                      </a:r>
                      <a:r>
                        <a:rPr lang="es-MX" baseline="0" dirty="0"/>
                        <a:t> de Adquisición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3896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¿Existen partidas en el Estado de Resultados que fiscalmente no sean acumulables o deducibles?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8722533"/>
              </p:ext>
            </p:extLst>
          </p:nvPr>
        </p:nvGraphicFramePr>
        <p:xfrm>
          <a:off x="838200" y="1825625"/>
          <a:ext cx="10515599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9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2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Importe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Comentarios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por 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Intereses ganados por Fondos</a:t>
                      </a:r>
                      <a:r>
                        <a:rPr lang="es-MX" baseline="0" dirty="0"/>
                        <a:t> de Inversión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</a:t>
                      </a:r>
                      <a:r>
                        <a:rPr lang="es-MX" baseline="0" dirty="0"/>
                        <a:t> por Arrendamiento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Utilidad en Cambios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63,254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Dividendos</a:t>
                      </a:r>
                      <a:r>
                        <a:rPr lang="es-MX" baseline="0" dirty="0"/>
                        <a:t> de Sociedades No Residentes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Dividendos de Sociedades</a:t>
                      </a:r>
                      <a:r>
                        <a:rPr lang="es-MX" baseline="0" dirty="0"/>
                        <a:t> Residentes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No Acumulable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</a:t>
                      </a:r>
                      <a:r>
                        <a:rPr lang="es-MX" baseline="0" dirty="0"/>
                        <a:t> por terminación de contrato de arrendamiento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Ganancia en Tenencia y Venta de</a:t>
                      </a:r>
                      <a:r>
                        <a:rPr lang="es-MX" baseline="0" dirty="0"/>
                        <a:t> Centenarios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</a:t>
                      </a:r>
                      <a:r>
                        <a:rPr lang="es-MX" baseline="0" dirty="0"/>
                        <a:t> por intereses en moneda extranjera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3,124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Utilidad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$613,778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6278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¿Existieron transacciones con efecto “cero” en la contabilidad cuyos efectos fiscales son distintos?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Gastos por cuenta de terceros</a:t>
            </a:r>
          </a:p>
          <a:p>
            <a:pPr lvl="1"/>
            <a:r>
              <a:rPr lang="es-MX" dirty="0"/>
              <a:t>Se erogaron $7,500 por cuenta del tercero</a:t>
            </a:r>
          </a:p>
          <a:p>
            <a:pPr lvl="2"/>
            <a:r>
              <a:rPr lang="es-MX" dirty="0"/>
              <a:t>Se obtuvieron comprobantes a nombre del tercero por $7,000</a:t>
            </a:r>
          </a:p>
          <a:p>
            <a:pPr lvl="3"/>
            <a:r>
              <a:rPr lang="es-MX" dirty="0"/>
              <a:t>No deducible el gasto y no acumulable el reembolso</a:t>
            </a:r>
          </a:p>
          <a:p>
            <a:pPr lvl="2"/>
            <a:r>
              <a:rPr lang="es-MX" dirty="0"/>
              <a:t>Por la diferencia de $500 no se obtuvieron comprobantes que cumplieran con los requisitos necesarios para su deducibilidad</a:t>
            </a:r>
          </a:p>
          <a:p>
            <a:pPr lvl="3"/>
            <a:r>
              <a:rPr lang="es-MX" dirty="0"/>
              <a:t>Reembolso acumulable por  $500</a:t>
            </a:r>
          </a:p>
          <a:p>
            <a:pPr lvl="3"/>
            <a:r>
              <a:rPr lang="es-MX" dirty="0"/>
              <a:t>Gasto no deducible permanente por $500 (no está en el estado de resultados)</a:t>
            </a:r>
          </a:p>
        </p:txBody>
      </p:sp>
    </p:spTree>
    <p:extLst>
      <p:ext uri="{BB962C8B-B14F-4D97-AF65-F5344CB8AC3E}">
        <p14:creationId xmlns:p14="http://schemas.microsoft.com/office/powerpoint/2010/main" val="13447634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¿Cuál es el Ajuste Anual por Inflación?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4315673"/>
              </p:ext>
            </p:extLst>
          </p:nvPr>
        </p:nvGraphicFramePr>
        <p:xfrm>
          <a:off x="838200" y="1825625"/>
          <a:ext cx="10515600" cy="4153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9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4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4447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Créditos</a:t>
                      </a:r>
                      <a:r>
                        <a:rPr lang="es-MX" sz="1600" baseline="0" dirty="0"/>
                        <a:t> en MN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Créditos en 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Deudas en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Deudas en 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Neto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s-MX" sz="1600" dirty="0"/>
                        <a:t>Suma de Saldos Mensuales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113">
                <a:tc>
                  <a:txBody>
                    <a:bodyPr/>
                    <a:lstStyle/>
                    <a:p>
                      <a:r>
                        <a:rPr lang="es-MX" sz="1600" dirty="0"/>
                        <a:t>Meses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113">
                <a:tc>
                  <a:txBody>
                    <a:bodyPr/>
                    <a:lstStyle/>
                    <a:p>
                      <a:r>
                        <a:rPr lang="es-MX" sz="1600" dirty="0"/>
                        <a:t>Promedio de</a:t>
                      </a:r>
                      <a:r>
                        <a:rPr lang="es-MX" sz="1600" baseline="0" dirty="0"/>
                        <a:t> Saldos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447">
                <a:tc>
                  <a:txBody>
                    <a:bodyPr/>
                    <a:lstStyle/>
                    <a:p>
                      <a:r>
                        <a:rPr lang="es-MX" sz="1600" dirty="0"/>
                        <a:t>INPC del mes más reciente</a:t>
                      </a:r>
                      <a:r>
                        <a:rPr lang="es-MX" sz="1600" baseline="0" dirty="0"/>
                        <a:t> (dic. 13)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447">
                <a:tc>
                  <a:txBody>
                    <a:bodyPr/>
                    <a:lstStyle/>
                    <a:p>
                      <a:r>
                        <a:rPr lang="es-MX" sz="1600" dirty="0"/>
                        <a:t>INPC del mes más antiguo (dic. 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Factor de Ajuste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s-MX" sz="1600" dirty="0"/>
                        <a:t>Ajuste</a:t>
                      </a:r>
                      <a:r>
                        <a:rPr lang="es-MX" sz="1600" baseline="0" dirty="0"/>
                        <a:t> Anual por Inflación Deducible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4375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Promedio de Créditos en Moneda Nacional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917230"/>
              </p:ext>
            </p:extLst>
          </p:nvPr>
        </p:nvGraphicFramePr>
        <p:xfrm>
          <a:off x="838200" y="1825625"/>
          <a:ext cx="10515600" cy="4876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8282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Bancos MEX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CETES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Fondos de Inversión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Deudores por rentas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Deudores diversos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Sumas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Enero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950,000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4,000,000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4,950,000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816,000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4,000,000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4,896,000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937,400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4,000,000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4,937,400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3,937,400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3,937,400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Junio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3,937,400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3,964,400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Julio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3,967,400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3,992,400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Agosto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4,359,800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4,384,800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Septiembre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255,800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280,800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Octubre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255,800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280,800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265,800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290,800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Diciembre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265,800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290,800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Sumas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$19,948,600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$12,000,000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$175,000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$32,205,600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574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Promedio de Créditos en Moneda Extranjera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2909382"/>
              </p:ext>
            </p:extLst>
          </p:nvPr>
        </p:nvGraphicFramePr>
        <p:xfrm>
          <a:off x="838197" y="1529411"/>
          <a:ext cx="10515603" cy="4876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282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Bancos </a:t>
                      </a:r>
                      <a:r>
                        <a:rPr lang="es-MX" sz="1400" dirty="0" err="1"/>
                        <a:t>Dlls</a:t>
                      </a:r>
                      <a:r>
                        <a:rPr lang="es-MX" sz="1400" dirty="0"/>
                        <a:t>.</a:t>
                      </a:r>
                      <a:r>
                        <a:rPr lang="es-MX" sz="1400" baseline="0" dirty="0"/>
                        <a:t> MEX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Bancos</a:t>
                      </a:r>
                      <a:r>
                        <a:rPr lang="es-MX" sz="1400" baseline="0" dirty="0"/>
                        <a:t> </a:t>
                      </a:r>
                      <a:r>
                        <a:rPr lang="es-MX" sz="1400" baseline="0" dirty="0" err="1"/>
                        <a:t>Dlls</a:t>
                      </a:r>
                      <a:r>
                        <a:rPr lang="es-MX" sz="1400" baseline="0" dirty="0"/>
                        <a:t>. USA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Intereses*</a:t>
                      </a:r>
                      <a:r>
                        <a:rPr lang="es-MX" sz="1400" baseline="0" dirty="0"/>
                        <a:t> por cobrar </a:t>
                      </a:r>
                      <a:r>
                        <a:rPr lang="es-MX" sz="1400" baseline="0" dirty="0" err="1"/>
                        <a:t>Dlls</a:t>
                      </a:r>
                      <a:r>
                        <a:rPr lang="es-MX" sz="1400" baseline="0" dirty="0"/>
                        <a:t>.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Sumas en 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Tipo</a:t>
                      </a:r>
                      <a:r>
                        <a:rPr lang="es-MX" sz="1400" baseline="0" dirty="0"/>
                        <a:t> de Cambio **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Sumas en 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Enero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Junio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Julio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Agosto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/>
                        <a:t>70,000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70,000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Septiembre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/>
                        <a:t>70,000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strike="sngStrike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es-MX" sz="1600" strike="noStrike" dirty="0">
                          <a:solidFill>
                            <a:schemeClr val="tx1"/>
                          </a:solidFill>
                        </a:rPr>
                        <a:t>                </a:t>
                      </a:r>
                      <a:r>
                        <a:rPr lang="es-MX" sz="1600" strike="noStrik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270,000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Octubre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/>
                        <a:t>70,000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strike="sngStrike" dirty="0"/>
                        <a:t>120</a:t>
                      </a:r>
                      <a:r>
                        <a:rPr lang="es-MX" sz="1600" dirty="0"/>
                        <a:t>            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270,060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/>
                        <a:t>70,000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strike="sngStrike" dirty="0"/>
                        <a:t>180</a:t>
                      </a:r>
                      <a:r>
                        <a:rPr lang="es-MX" sz="1600" dirty="0"/>
                        <a:t>          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270,120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Diciembre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/>
                        <a:t>70,000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strike="sngStrike" dirty="0"/>
                        <a:t>240</a:t>
                      </a:r>
                      <a:r>
                        <a:rPr lang="es-MX" sz="1600" dirty="0"/>
                        <a:t>           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270,180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Sumas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650,000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1,450,360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38200" y="6488174"/>
            <a:ext cx="72962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*No se consideran los intereses devengados en el mismo mes     **Tipo de cambio al inicio del mes</a:t>
            </a:r>
          </a:p>
        </p:txBody>
      </p:sp>
    </p:spTree>
    <p:extLst>
      <p:ext uri="{BB962C8B-B14F-4D97-AF65-F5344CB8AC3E}">
        <p14:creationId xmlns:p14="http://schemas.microsoft.com/office/powerpoint/2010/main" val="13747852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Promedio de Deudas en Moneda Nacional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3" cy="4876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282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Depósitos</a:t>
                      </a:r>
                      <a:r>
                        <a:rPr lang="es-MX" sz="1400" baseline="0" dirty="0"/>
                        <a:t> en Garantía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Anticipos</a:t>
                      </a:r>
                      <a:r>
                        <a:rPr lang="es-MX" sz="1400" baseline="0" dirty="0"/>
                        <a:t> de Clientes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Sumas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Enero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Junio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Julio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Agosto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Septiembre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Octubre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Diciembre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Sumas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$80,000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659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Promedio de Deudas en Moneda Extranjera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14752"/>
              </p:ext>
            </p:extLst>
          </p:nvPr>
        </p:nvGraphicFramePr>
        <p:xfrm>
          <a:off x="838200" y="1825625"/>
          <a:ext cx="10515603" cy="4876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282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Sumas en 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Tipo</a:t>
                      </a:r>
                      <a:r>
                        <a:rPr lang="es-MX" sz="1400" baseline="0" dirty="0"/>
                        <a:t> de Cambio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Sumas en 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Enero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Junio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Julio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Agosto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Septiembre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Octubre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s-MX" sz="1600" dirty="0"/>
                        <a:t>Diciembre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Sumas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dirty="0"/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0346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¿Existen partidas de Ejercicios Anteriores con efectos en este Ejercicio?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Al cierre del ejercicio 2024 no se identificó ninguna partida cuyos efectos hubieran sido anticipados o diferidos.</a:t>
            </a:r>
          </a:p>
        </p:txBody>
      </p:sp>
    </p:spTree>
    <p:extLst>
      <p:ext uri="{BB962C8B-B14F-4D97-AF65-F5344CB8AC3E}">
        <p14:creationId xmlns:p14="http://schemas.microsoft.com/office/powerpoint/2010/main" val="36402955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¿Existen Pérdidas de Ejercicios Anteriores?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858C491-DB05-B6DE-5755-73C5A43FF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681671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13937</TotalTime>
  <Words>4532</Words>
  <Application>Microsoft Office PowerPoint</Application>
  <PresentationFormat>Panorámica</PresentationFormat>
  <Paragraphs>1428</Paragraphs>
  <Slides>70</Slides>
  <Notes>70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70</vt:i4>
      </vt:variant>
    </vt:vector>
  </HeadingPairs>
  <TitlesOfParts>
    <vt:vector size="74" baseType="lpstr">
      <vt:lpstr>Arial</vt:lpstr>
      <vt:lpstr>Calibri</vt:lpstr>
      <vt:lpstr>Calibri Light</vt:lpstr>
      <vt:lpstr>Office Theme</vt:lpstr>
      <vt:lpstr>Ejercicio Conciliación Contable-Fiscal</vt:lpstr>
      <vt:lpstr>Elaboración de la Conciliación Contable-Fiscal</vt:lpstr>
      <vt:lpstr>Ejercicio – Conciliación Contable-Fiscal</vt:lpstr>
      <vt:lpstr>Agosto de 2025</vt:lpstr>
      <vt:lpstr>Agosto de 2025</vt:lpstr>
      <vt:lpstr>Septiembre de 2025</vt:lpstr>
      <vt:lpstr>Octubre de 2025</vt:lpstr>
      <vt:lpstr>Noviembre de 2025</vt:lpstr>
      <vt:lpstr>Noviembre de 2025</vt:lpstr>
      <vt:lpstr>Diciembre de 2025</vt:lpstr>
      <vt:lpstr>Ejercicio 2025 – Ajuste Anual por Inflación</vt:lpstr>
      <vt:lpstr>Ejercicio 2025 –Pérdida Fiscal </vt:lpstr>
      <vt:lpstr>Coeficiente de Utilidad para pagos provisionales</vt:lpstr>
      <vt:lpstr>Fin de 2025</vt:lpstr>
      <vt:lpstr>Enero de 2025</vt:lpstr>
      <vt:lpstr>Enero de 2025</vt:lpstr>
      <vt:lpstr>Enero de 2025 - Saldos</vt:lpstr>
      <vt:lpstr>Febrero 2025</vt:lpstr>
      <vt:lpstr>Febrero de 2025</vt:lpstr>
      <vt:lpstr>Febrero de 2025 - Saldos</vt:lpstr>
      <vt:lpstr> Marzo 2025</vt:lpstr>
      <vt:lpstr>Marzo de 2025</vt:lpstr>
      <vt:lpstr>Marzo de 2025 - Saldos</vt:lpstr>
      <vt:lpstr>Abril 2025</vt:lpstr>
      <vt:lpstr>Abril de 2025</vt:lpstr>
      <vt:lpstr>Abril de 2025</vt:lpstr>
      <vt:lpstr>Abril de 2025 - Saldos</vt:lpstr>
      <vt:lpstr>Mayo 2025</vt:lpstr>
      <vt:lpstr>Mayo de 2025</vt:lpstr>
      <vt:lpstr>Mayo de 2025 - Saldos</vt:lpstr>
      <vt:lpstr>Junio 2025</vt:lpstr>
      <vt:lpstr>Junio de 2025</vt:lpstr>
      <vt:lpstr>Junio de 2025 - Saldos</vt:lpstr>
      <vt:lpstr>Julio 2025</vt:lpstr>
      <vt:lpstr>Julio de 2025</vt:lpstr>
      <vt:lpstr>Julio de 2025 - Saldos</vt:lpstr>
      <vt:lpstr>Agosto 2025</vt:lpstr>
      <vt:lpstr>Agosto de 2025</vt:lpstr>
      <vt:lpstr>Agosto de 2025 - Saldos</vt:lpstr>
      <vt:lpstr>Septiembre 2025</vt:lpstr>
      <vt:lpstr>Septiembre de 2025</vt:lpstr>
      <vt:lpstr>Septiembre de 2025</vt:lpstr>
      <vt:lpstr>Septiembre de 2025 - Saldos</vt:lpstr>
      <vt:lpstr>Octubre 2025</vt:lpstr>
      <vt:lpstr>Octubre de 2025</vt:lpstr>
      <vt:lpstr>Octubre de 2025</vt:lpstr>
      <vt:lpstr>Octubre de 2025 - Saldos</vt:lpstr>
      <vt:lpstr>Noviembre 2025</vt:lpstr>
      <vt:lpstr>Noviembre de 2025</vt:lpstr>
      <vt:lpstr>Noviembre de 2025 - Saldos</vt:lpstr>
      <vt:lpstr>Diciembre 2025</vt:lpstr>
      <vt:lpstr>Diciembre de 2025</vt:lpstr>
      <vt:lpstr>Diciembre de 2025</vt:lpstr>
      <vt:lpstr>Diciembre de 2025 - Saldos</vt:lpstr>
      <vt:lpstr>Resultados al 31 de diciembre de 2025</vt:lpstr>
      <vt:lpstr>Activos, Pasivos y Capital al 31 de diciembre de 2025</vt:lpstr>
      <vt:lpstr>Preparando la Conciliación</vt:lpstr>
      <vt:lpstr>¿Existen partidas en el Balance General que fiscalmente correspondan a Resultados?</vt:lpstr>
      <vt:lpstr>¿Existen partidas en el Estado de Resultados que fiscalmente deban ser valuadas de manera distinta?</vt:lpstr>
      <vt:lpstr>Utilidad en Cambios</vt:lpstr>
      <vt:lpstr>Ganancia en Tenencia y Venta de Centenarios</vt:lpstr>
      <vt:lpstr>¿Existen partidas en el Estado de Resultados que fiscalmente no sean acumulables o deducibles?</vt:lpstr>
      <vt:lpstr>¿Existieron transacciones con efecto “cero” en la contabilidad cuyos efectos fiscales son distintos?</vt:lpstr>
      <vt:lpstr>¿Cuál es el Ajuste Anual por Inflación?</vt:lpstr>
      <vt:lpstr>Promedio de Créditos en Moneda Nacional</vt:lpstr>
      <vt:lpstr>Promedio de Créditos en Moneda Extranjera</vt:lpstr>
      <vt:lpstr>Promedio de Deudas en Moneda Nacional</vt:lpstr>
      <vt:lpstr>Promedio de Deudas en Moneda Extranjera</vt:lpstr>
      <vt:lpstr>¿Existen partidas de Ejercicios Anteriores con efectos en este Ejercicio?</vt:lpstr>
      <vt:lpstr>¿Existen Pérdidas de Ejercicios Anteriores?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Impuestos Corporativos I</dc:title>
  <dc:creator>Javier Goyeneche</dc:creator>
  <cp:lastModifiedBy>Jaime De León R.</cp:lastModifiedBy>
  <cp:revision>2257</cp:revision>
  <cp:lastPrinted>2015-08-25T16:30:23Z</cp:lastPrinted>
  <dcterms:created xsi:type="dcterms:W3CDTF">2014-08-11T16:22:10Z</dcterms:created>
  <dcterms:modified xsi:type="dcterms:W3CDTF">2026-04-30T04:15:32Z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37ea1f-2c5d-459d-abec-9c12fc11b92c_Enabled">
    <vt:lpwstr>true</vt:lpwstr>
  </property>
  <property fmtid="{D5CDD505-2E9C-101B-9397-08002B2CF9AE}" pid="3" name="MSIP_Label_d537ea1f-2c5d-459d-abec-9c12fc11b92c_SetDate">
    <vt:lpwstr>2025-02-19T04:01:50Z</vt:lpwstr>
  </property>
  <property fmtid="{D5CDD505-2E9C-101B-9397-08002B2CF9AE}" pid="4" name="MSIP_Label_d537ea1f-2c5d-459d-abec-9c12fc11b92c_Method">
    <vt:lpwstr>Privileged</vt:lpwstr>
  </property>
  <property fmtid="{D5CDD505-2E9C-101B-9397-08002B2CF9AE}" pid="5" name="MSIP_Label_d537ea1f-2c5d-459d-abec-9c12fc11b92c_Name">
    <vt:lpwstr>General</vt:lpwstr>
  </property>
  <property fmtid="{D5CDD505-2E9C-101B-9397-08002B2CF9AE}" pid="6" name="MSIP_Label_d537ea1f-2c5d-459d-abec-9c12fc11b92c_SiteId">
    <vt:lpwstr>5a3c2a26-df13-4524-9df2-07d9a4d4a7d0</vt:lpwstr>
  </property>
  <property fmtid="{D5CDD505-2E9C-101B-9397-08002B2CF9AE}" pid="7" name="MSIP_Label_d537ea1f-2c5d-459d-abec-9c12fc11b92c_ActionId">
    <vt:lpwstr>3b33feaa-44a8-4a0e-80c4-10459f105435</vt:lpwstr>
  </property>
  <property fmtid="{D5CDD505-2E9C-101B-9397-08002B2CF9AE}" pid="8" name="MSIP_Label_d537ea1f-2c5d-459d-abec-9c12fc11b92c_ContentBits">
    <vt:lpwstr>0</vt:lpwstr>
  </property>
  <property fmtid="{D5CDD505-2E9C-101B-9397-08002B2CF9AE}" pid="9" name="MSIP_Label_d537ea1f-2c5d-459d-abec-9c12fc11b92c_Tag">
    <vt:lpwstr>10, 0, 1, 1</vt:lpwstr>
  </property>
</Properties>
</file>